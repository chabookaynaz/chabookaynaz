
<file path=[Content_Types].xml><?xml version="1.0" encoding="utf-8"?>
<Types xmlns="http://schemas.openxmlformats.org/package/2006/content-types">
  <Default Extension="emf" ContentType="image/x-emf"/>
  <Default Extension="gif" ContentType="image/gif"/>
  <Default Extension="jpeg" ContentType="image/jpeg"/>
  <Default Extension="jpg" ContentType="image/unknown"/>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2.jpg" ContentType="image/jpeg"/>
  <Override PartName="/ppt/media/image6.jpg" ContentType="image/jpeg"/>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media/image13.jpg" ContentType="image/jpeg"/>
  <Override PartName="/ppt/media/image15.jpg" ContentType="image/jpe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78" r:id="rId4"/>
    <p:sldId id="264" r:id="rId5"/>
    <p:sldId id="266" r:id="rId6"/>
    <p:sldId id="258" r:id="rId7"/>
    <p:sldId id="260" r:id="rId8"/>
    <p:sldId id="283" r:id="rId9"/>
    <p:sldId id="270" r:id="rId10"/>
    <p:sldId id="280" r:id="rId11"/>
    <p:sldId id="284" r:id="rId12"/>
    <p:sldId id="263" r:id="rId13"/>
    <p:sldId id="262" r:id="rId14"/>
    <p:sldId id="267" r:id="rId15"/>
    <p:sldId id="272" r:id="rId16"/>
    <p:sldId id="285" r:id="rId17"/>
    <p:sldId id="279" r:id="rId18"/>
    <p:sldId id="276" r:id="rId19"/>
    <p:sldId id="265" r:id="rId20"/>
    <p:sldId id="261" r:id="rId21"/>
    <p:sldId id="271" r:id="rId22"/>
    <p:sldId id="282" r:id="rId23"/>
    <p:sldId id="268" r:id="rId24"/>
    <p:sldId id="273" r:id="rId25"/>
    <p:sldId id="286" r:id="rId26"/>
    <p:sldId id="289" r:id="rId27"/>
    <p:sldId id="290" r:id="rId28"/>
    <p:sldId id="291" r:id="rId29"/>
    <p:sldId id="287" r:id="rId30"/>
    <p:sldId id="292" r:id="rId31"/>
    <p:sldId id="288"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0" d="100"/>
          <a:sy n="80" d="100"/>
        </p:scale>
        <p:origin x="58"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8CEF50B-5C5D-4670-8875-D7A81FF67F24}" type="doc">
      <dgm:prSet loTypeId="urn:microsoft.com/office/officeart/2005/8/layout/hierarchy3" loCatId="hierarchy" qsTypeId="urn:microsoft.com/office/officeart/2005/8/quickstyle/3d6" qsCatId="3D" csTypeId="urn:microsoft.com/office/officeart/2005/8/colors/accent0_3" csCatId="mainScheme" phldr="1"/>
      <dgm:spPr/>
      <dgm:t>
        <a:bodyPr/>
        <a:lstStyle/>
        <a:p>
          <a:endParaRPr lang="en-US"/>
        </a:p>
      </dgm:t>
    </dgm:pt>
    <dgm:pt modelId="{80484002-8A67-48BA-946F-27F237FDE743}">
      <dgm:prSet phldrT="[Text]" phldr="0"/>
      <dgm:spPr/>
      <dgm:t>
        <a:bodyPr/>
        <a:lstStyle/>
        <a:p>
          <a:r>
            <a:rPr lang="en-US" dirty="0"/>
            <a:t>BJT</a:t>
          </a:r>
        </a:p>
      </dgm:t>
    </dgm:pt>
    <dgm:pt modelId="{1EE20C74-03A4-4D9D-A84B-448A182730F1}" type="parTrans" cxnId="{BBE69A0A-3528-43B0-A940-AE6839016B8C}">
      <dgm:prSet/>
      <dgm:spPr/>
      <dgm:t>
        <a:bodyPr/>
        <a:lstStyle/>
        <a:p>
          <a:endParaRPr lang="en-US"/>
        </a:p>
      </dgm:t>
    </dgm:pt>
    <dgm:pt modelId="{CD2E7BAD-4230-41CC-903C-ACC9B3D0EBA8}" type="sibTrans" cxnId="{BBE69A0A-3528-43B0-A940-AE6839016B8C}">
      <dgm:prSet/>
      <dgm:spPr/>
      <dgm:t>
        <a:bodyPr/>
        <a:lstStyle/>
        <a:p>
          <a:endParaRPr lang="en-US"/>
        </a:p>
      </dgm:t>
    </dgm:pt>
    <dgm:pt modelId="{0BA0A90C-667C-4719-AEC7-1950391A1DD2}">
      <dgm:prSet phldrT="[Text]" phldr="0" custT="1"/>
      <dgm:spPr/>
      <dgm:t>
        <a:bodyPr/>
        <a:lstStyle/>
        <a:p>
          <a:r>
            <a:rPr lang="en-US" sz="4400" dirty="0"/>
            <a:t>PNP</a:t>
          </a:r>
        </a:p>
      </dgm:t>
    </dgm:pt>
    <dgm:pt modelId="{E27F1A2E-CF07-4AC2-AB04-E31AF24184EE}" type="parTrans" cxnId="{9C54FAEC-5FDB-462F-AF0D-E7C794A0F0AF}">
      <dgm:prSet/>
      <dgm:spPr/>
      <dgm:t>
        <a:bodyPr/>
        <a:lstStyle/>
        <a:p>
          <a:endParaRPr lang="en-US"/>
        </a:p>
      </dgm:t>
    </dgm:pt>
    <dgm:pt modelId="{EAF37B78-4C99-4477-8D17-536B2DE3B53B}" type="sibTrans" cxnId="{9C54FAEC-5FDB-462F-AF0D-E7C794A0F0AF}">
      <dgm:prSet/>
      <dgm:spPr/>
      <dgm:t>
        <a:bodyPr/>
        <a:lstStyle/>
        <a:p>
          <a:endParaRPr lang="en-US"/>
        </a:p>
      </dgm:t>
    </dgm:pt>
    <dgm:pt modelId="{3A8F5A82-19B3-4B29-82DB-DA788A52E3D6}">
      <dgm:prSet phldrT="[Text]" phldr="0" custT="1"/>
      <dgm:spPr/>
      <dgm:t>
        <a:bodyPr/>
        <a:lstStyle/>
        <a:p>
          <a:r>
            <a:rPr lang="en-US" sz="4400" dirty="0"/>
            <a:t>NPN</a:t>
          </a:r>
        </a:p>
      </dgm:t>
    </dgm:pt>
    <dgm:pt modelId="{0A487256-3DA9-4567-A75A-97F65D9347A4}" type="parTrans" cxnId="{7DE206A2-10C2-442D-A6A1-17FDDC46EE7E}">
      <dgm:prSet/>
      <dgm:spPr/>
      <dgm:t>
        <a:bodyPr/>
        <a:lstStyle/>
        <a:p>
          <a:endParaRPr lang="en-US"/>
        </a:p>
      </dgm:t>
    </dgm:pt>
    <dgm:pt modelId="{BF871455-ABC0-4893-AF4E-5981C69F9B40}" type="sibTrans" cxnId="{7DE206A2-10C2-442D-A6A1-17FDDC46EE7E}">
      <dgm:prSet/>
      <dgm:spPr/>
      <dgm:t>
        <a:bodyPr/>
        <a:lstStyle/>
        <a:p>
          <a:endParaRPr lang="en-US"/>
        </a:p>
      </dgm:t>
    </dgm:pt>
    <dgm:pt modelId="{85A79D95-EACF-4CFB-8A74-88639A7D45DF}">
      <dgm:prSet phldrT="[Text]" phldr="0"/>
      <dgm:spPr/>
      <dgm:t>
        <a:bodyPr/>
        <a:lstStyle/>
        <a:p>
          <a:r>
            <a:rPr lang="en-US" dirty="0"/>
            <a:t>FET</a:t>
          </a:r>
        </a:p>
      </dgm:t>
    </dgm:pt>
    <dgm:pt modelId="{FF0A5349-A770-4BE4-9A9E-362386B057D0}" type="parTrans" cxnId="{0049DCD6-345A-4877-8992-04C76121A59E}">
      <dgm:prSet/>
      <dgm:spPr/>
      <dgm:t>
        <a:bodyPr/>
        <a:lstStyle/>
        <a:p>
          <a:endParaRPr lang="en-US"/>
        </a:p>
      </dgm:t>
    </dgm:pt>
    <dgm:pt modelId="{FB901E96-6677-452D-9F18-BDCF2CD2D4D1}" type="sibTrans" cxnId="{0049DCD6-345A-4877-8992-04C76121A59E}">
      <dgm:prSet/>
      <dgm:spPr/>
      <dgm:t>
        <a:bodyPr/>
        <a:lstStyle/>
        <a:p>
          <a:endParaRPr lang="en-US"/>
        </a:p>
      </dgm:t>
    </dgm:pt>
    <dgm:pt modelId="{621FB299-AA0B-4EFC-BF91-721693C36031}">
      <dgm:prSet phldrT="[Text]" phldr="0" custT="1"/>
      <dgm:spPr/>
      <dgm:t>
        <a:bodyPr/>
        <a:lstStyle/>
        <a:p>
          <a:r>
            <a:rPr lang="en-US" sz="4400" dirty="0"/>
            <a:t>JFET</a:t>
          </a:r>
        </a:p>
      </dgm:t>
    </dgm:pt>
    <dgm:pt modelId="{3633BCFB-A50C-481B-BE5C-D6C72859D7BE}" type="parTrans" cxnId="{2A472155-9855-48EE-BEBE-7FA5BD3FF2EE}">
      <dgm:prSet/>
      <dgm:spPr/>
      <dgm:t>
        <a:bodyPr/>
        <a:lstStyle/>
        <a:p>
          <a:endParaRPr lang="en-US"/>
        </a:p>
      </dgm:t>
    </dgm:pt>
    <dgm:pt modelId="{0C4E04EA-054F-4F1E-AB9B-F9A86556219C}" type="sibTrans" cxnId="{2A472155-9855-48EE-BEBE-7FA5BD3FF2EE}">
      <dgm:prSet/>
      <dgm:spPr/>
      <dgm:t>
        <a:bodyPr/>
        <a:lstStyle/>
        <a:p>
          <a:endParaRPr lang="en-US"/>
        </a:p>
      </dgm:t>
    </dgm:pt>
    <dgm:pt modelId="{B27E1FB4-2EF1-489F-B7CD-AE3119AC22FD}">
      <dgm:prSet phldrT="[Text]" phldr="0"/>
      <dgm:spPr/>
      <dgm:t>
        <a:bodyPr/>
        <a:lstStyle/>
        <a:p>
          <a:r>
            <a:rPr lang="en-US" dirty="0"/>
            <a:t>MOSFET</a:t>
          </a:r>
        </a:p>
      </dgm:t>
    </dgm:pt>
    <dgm:pt modelId="{738B93AF-82B2-45AC-BBF5-590534248EF9}" type="parTrans" cxnId="{886CC2F0-2AEA-4DDC-902F-93A4A11C0B5A}">
      <dgm:prSet/>
      <dgm:spPr/>
      <dgm:t>
        <a:bodyPr/>
        <a:lstStyle/>
        <a:p>
          <a:endParaRPr lang="en-US"/>
        </a:p>
      </dgm:t>
    </dgm:pt>
    <dgm:pt modelId="{CA11C3A1-C301-4032-9E46-9FCAFC182D96}" type="sibTrans" cxnId="{886CC2F0-2AEA-4DDC-902F-93A4A11C0B5A}">
      <dgm:prSet/>
      <dgm:spPr/>
      <dgm:t>
        <a:bodyPr/>
        <a:lstStyle/>
        <a:p>
          <a:endParaRPr lang="en-US"/>
        </a:p>
      </dgm:t>
    </dgm:pt>
    <dgm:pt modelId="{C47C08DB-FCA0-4E58-987A-46EBAC239A5F}" type="pres">
      <dgm:prSet presAssocID="{E8CEF50B-5C5D-4670-8875-D7A81FF67F24}" presName="diagram" presStyleCnt="0">
        <dgm:presLayoutVars>
          <dgm:chPref val="1"/>
          <dgm:dir/>
          <dgm:animOne val="branch"/>
          <dgm:animLvl val="lvl"/>
          <dgm:resizeHandles/>
        </dgm:presLayoutVars>
      </dgm:prSet>
      <dgm:spPr/>
    </dgm:pt>
    <dgm:pt modelId="{E635274B-7447-40AC-8ADC-74E0019A36A1}" type="pres">
      <dgm:prSet presAssocID="{80484002-8A67-48BA-946F-27F237FDE743}" presName="root" presStyleCnt="0"/>
      <dgm:spPr/>
    </dgm:pt>
    <dgm:pt modelId="{A97FA93B-1C02-4E6A-8EC6-7769EB982068}" type="pres">
      <dgm:prSet presAssocID="{80484002-8A67-48BA-946F-27F237FDE743}" presName="rootComposite" presStyleCnt="0"/>
      <dgm:spPr/>
    </dgm:pt>
    <dgm:pt modelId="{BAA4AB64-C5CF-4D22-8EE9-85FEB621DED6}" type="pres">
      <dgm:prSet presAssocID="{80484002-8A67-48BA-946F-27F237FDE743}" presName="rootText" presStyleLbl="node1" presStyleIdx="0" presStyleCnt="2"/>
      <dgm:spPr/>
    </dgm:pt>
    <dgm:pt modelId="{911BE966-5B0D-41AF-A0FA-4F93ED9CB926}" type="pres">
      <dgm:prSet presAssocID="{80484002-8A67-48BA-946F-27F237FDE743}" presName="rootConnector" presStyleLbl="node1" presStyleIdx="0" presStyleCnt="2"/>
      <dgm:spPr/>
    </dgm:pt>
    <dgm:pt modelId="{DE49DB14-0303-433A-9961-8705B2F103A7}" type="pres">
      <dgm:prSet presAssocID="{80484002-8A67-48BA-946F-27F237FDE743}" presName="childShape" presStyleCnt="0"/>
      <dgm:spPr/>
    </dgm:pt>
    <dgm:pt modelId="{75222BE0-DF25-4A67-B048-555F34BF555E}" type="pres">
      <dgm:prSet presAssocID="{E27F1A2E-CF07-4AC2-AB04-E31AF24184EE}" presName="Name13" presStyleLbl="parChTrans1D2" presStyleIdx="0" presStyleCnt="4"/>
      <dgm:spPr/>
    </dgm:pt>
    <dgm:pt modelId="{0F08ED6C-B58C-425B-941B-E3CC9DE5C397}" type="pres">
      <dgm:prSet presAssocID="{0BA0A90C-667C-4719-AEC7-1950391A1DD2}" presName="childText" presStyleLbl="bgAcc1" presStyleIdx="0" presStyleCnt="4">
        <dgm:presLayoutVars>
          <dgm:bulletEnabled val="1"/>
        </dgm:presLayoutVars>
      </dgm:prSet>
      <dgm:spPr/>
    </dgm:pt>
    <dgm:pt modelId="{184BF6F5-9506-4DF3-B315-89183E047D0F}" type="pres">
      <dgm:prSet presAssocID="{0A487256-3DA9-4567-A75A-97F65D9347A4}" presName="Name13" presStyleLbl="parChTrans1D2" presStyleIdx="1" presStyleCnt="4"/>
      <dgm:spPr/>
    </dgm:pt>
    <dgm:pt modelId="{9364D48E-FFA6-4E53-9ACC-E0C3B72D38A9}" type="pres">
      <dgm:prSet presAssocID="{3A8F5A82-19B3-4B29-82DB-DA788A52E3D6}" presName="childText" presStyleLbl="bgAcc1" presStyleIdx="1" presStyleCnt="4">
        <dgm:presLayoutVars>
          <dgm:bulletEnabled val="1"/>
        </dgm:presLayoutVars>
      </dgm:prSet>
      <dgm:spPr/>
    </dgm:pt>
    <dgm:pt modelId="{E67A673B-4FB0-43B7-AB55-D0338E930E53}" type="pres">
      <dgm:prSet presAssocID="{85A79D95-EACF-4CFB-8A74-88639A7D45DF}" presName="root" presStyleCnt="0"/>
      <dgm:spPr/>
    </dgm:pt>
    <dgm:pt modelId="{477AFB92-9025-4737-85B5-7D9284B30D87}" type="pres">
      <dgm:prSet presAssocID="{85A79D95-EACF-4CFB-8A74-88639A7D45DF}" presName="rootComposite" presStyleCnt="0"/>
      <dgm:spPr/>
    </dgm:pt>
    <dgm:pt modelId="{AAA19417-D042-4735-9C03-5998816CD8C7}" type="pres">
      <dgm:prSet presAssocID="{85A79D95-EACF-4CFB-8A74-88639A7D45DF}" presName="rootText" presStyleLbl="node1" presStyleIdx="1" presStyleCnt="2"/>
      <dgm:spPr/>
    </dgm:pt>
    <dgm:pt modelId="{A555C382-42AD-40CB-A593-1C99577094D6}" type="pres">
      <dgm:prSet presAssocID="{85A79D95-EACF-4CFB-8A74-88639A7D45DF}" presName="rootConnector" presStyleLbl="node1" presStyleIdx="1" presStyleCnt="2"/>
      <dgm:spPr/>
    </dgm:pt>
    <dgm:pt modelId="{1F3F820A-D1D6-4BC2-8CA0-941C1941800B}" type="pres">
      <dgm:prSet presAssocID="{85A79D95-EACF-4CFB-8A74-88639A7D45DF}" presName="childShape" presStyleCnt="0"/>
      <dgm:spPr/>
    </dgm:pt>
    <dgm:pt modelId="{8F44505C-E126-4C8D-A4F1-77E53C6B92AF}" type="pres">
      <dgm:prSet presAssocID="{3633BCFB-A50C-481B-BE5C-D6C72859D7BE}" presName="Name13" presStyleLbl="parChTrans1D2" presStyleIdx="2" presStyleCnt="4"/>
      <dgm:spPr/>
    </dgm:pt>
    <dgm:pt modelId="{408AECE9-58B7-432A-A8CA-BA4A3D129501}" type="pres">
      <dgm:prSet presAssocID="{621FB299-AA0B-4EFC-BF91-721693C36031}" presName="childText" presStyleLbl="bgAcc1" presStyleIdx="2" presStyleCnt="4">
        <dgm:presLayoutVars>
          <dgm:bulletEnabled val="1"/>
        </dgm:presLayoutVars>
      </dgm:prSet>
      <dgm:spPr/>
    </dgm:pt>
    <dgm:pt modelId="{EAB2952A-C4BE-4176-B7E3-98051FF643FA}" type="pres">
      <dgm:prSet presAssocID="{738B93AF-82B2-45AC-BBF5-590534248EF9}" presName="Name13" presStyleLbl="parChTrans1D2" presStyleIdx="3" presStyleCnt="4"/>
      <dgm:spPr/>
    </dgm:pt>
    <dgm:pt modelId="{6972BDD2-0704-4831-B2FD-69B6CA0565D7}" type="pres">
      <dgm:prSet presAssocID="{B27E1FB4-2EF1-489F-B7CD-AE3119AC22FD}" presName="childText" presStyleLbl="bgAcc1" presStyleIdx="3" presStyleCnt="4">
        <dgm:presLayoutVars>
          <dgm:bulletEnabled val="1"/>
        </dgm:presLayoutVars>
      </dgm:prSet>
      <dgm:spPr/>
    </dgm:pt>
  </dgm:ptLst>
  <dgm:cxnLst>
    <dgm:cxn modelId="{A5DBBF04-0B0C-492C-AF3C-EC4C0DCEA971}" type="presOf" srcId="{85A79D95-EACF-4CFB-8A74-88639A7D45DF}" destId="{AAA19417-D042-4735-9C03-5998816CD8C7}" srcOrd="0" destOrd="0" presId="urn:microsoft.com/office/officeart/2005/8/layout/hierarchy3"/>
    <dgm:cxn modelId="{BBE69A0A-3528-43B0-A940-AE6839016B8C}" srcId="{E8CEF50B-5C5D-4670-8875-D7A81FF67F24}" destId="{80484002-8A67-48BA-946F-27F237FDE743}" srcOrd="0" destOrd="0" parTransId="{1EE20C74-03A4-4D9D-A84B-448A182730F1}" sibTransId="{CD2E7BAD-4230-41CC-903C-ACC9B3D0EBA8}"/>
    <dgm:cxn modelId="{341CA619-5C1B-410B-96CD-3528B43BA495}" type="presOf" srcId="{B27E1FB4-2EF1-489F-B7CD-AE3119AC22FD}" destId="{6972BDD2-0704-4831-B2FD-69B6CA0565D7}" srcOrd="0" destOrd="0" presId="urn:microsoft.com/office/officeart/2005/8/layout/hierarchy3"/>
    <dgm:cxn modelId="{5AEFA338-D975-483D-8A72-B52071ADBA4D}" type="presOf" srcId="{3A8F5A82-19B3-4B29-82DB-DA788A52E3D6}" destId="{9364D48E-FFA6-4E53-9ACC-E0C3B72D38A9}" srcOrd="0" destOrd="0" presId="urn:microsoft.com/office/officeart/2005/8/layout/hierarchy3"/>
    <dgm:cxn modelId="{B91E2D3E-459C-47A2-AE34-806EE711DD47}" type="presOf" srcId="{80484002-8A67-48BA-946F-27F237FDE743}" destId="{911BE966-5B0D-41AF-A0FA-4F93ED9CB926}" srcOrd="1" destOrd="0" presId="urn:microsoft.com/office/officeart/2005/8/layout/hierarchy3"/>
    <dgm:cxn modelId="{90C32163-D3A2-44CE-9F5B-A25F7BC9033D}" type="presOf" srcId="{85A79D95-EACF-4CFB-8A74-88639A7D45DF}" destId="{A555C382-42AD-40CB-A593-1C99577094D6}" srcOrd="1" destOrd="0" presId="urn:microsoft.com/office/officeart/2005/8/layout/hierarchy3"/>
    <dgm:cxn modelId="{ED30C567-1D0E-49DB-8A5E-07687E85F5FC}" type="presOf" srcId="{621FB299-AA0B-4EFC-BF91-721693C36031}" destId="{408AECE9-58B7-432A-A8CA-BA4A3D129501}" srcOrd="0" destOrd="0" presId="urn:microsoft.com/office/officeart/2005/8/layout/hierarchy3"/>
    <dgm:cxn modelId="{71B08749-9FB3-4375-90BF-4E9D8974D1BC}" type="presOf" srcId="{738B93AF-82B2-45AC-BBF5-590534248EF9}" destId="{EAB2952A-C4BE-4176-B7E3-98051FF643FA}" srcOrd="0" destOrd="0" presId="urn:microsoft.com/office/officeart/2005/8/layout/hierarchy3"/>
    <dgm:cxn modelId="{2A472155-9855-48EE-BEBE-7FA5BD3FF2EE}" srcId="{85A79D95-EACF-4CFB-8A74-88639A7D45DF}" destId="{621FB299-AA0B-4EFC-BF91-721693C36031}" srcOrd="0" destOrd="0" parTransId="{3633BCFB-A50C-481B-BE5C-D6C72859D7BE}" sibTransId="{0C4E04EA-054F-4F1E-AB9B-F9A86556219C}"/>
    <dgm:cxn modelId="{180ABB90-0E52-4429-ABEA-A7133ECDE621}" type="presOf" srcId="{E27F1A2E-CF07-4AC2-AB04-E31AF24184EE}" destId="{75222BE0-DF25-4A67-B048-555F34BF555E}" srcOrd="0" destOrd="0" presId="urn:microsoft.com/office/officeart/2005/8/layout/hierarchy3"/>
    <dgm:cxn modelId="{EAA5BC99-601C-4F99-90BD-991D125A569C}" type="presOf" srcId="{0A487256-3DA9-4567-A75A-97F65D9347A4}" destId="{184BF6F5-9506-4DF3-B315-89183E047D0F}" srcOrd="0" destOrd="0" presId="urn:microsoft.com/office/officeart/2005/8/layout/hierarchy3"/>
    <dgm:cxn modelId="{7DE206A2-10C2-442D-A6A1-17FDDC46EE7E}" srcId="{80484002-8A67-48BA-946F-27F237FDE743}" destId="{3A8F5A82-19B3-4B29-82DB-DA788A52E3D6}" srcOrd="1" destOrd="0" parTransId="{0A487256-3DA9-4567-A75A-97F65D9347A4}" sibTransId="{BF871455-ABC0-4893-AF4E-5981C69F9B40}"/>
    <dgm:cxn modelId="{7F6CF2A4-ADC9-49A4-848D-61D68F96BDBD}" type="presOf" srcId="{80484002-8A67-48BA-946F-27F237FDE743}" destId="{BAA4AB64-C5CF-4D22-8EE9-85FEB621DED6}" srcOrd="0" destOrd="0" presId="urn:microsoft.com/office/officeart/2005/8/layout/hierarchy3"/>
    <dgm:cxn modelId="{81A688D0-2337-44A5-B4D1-D3C057539342}" type="presOf" srcId="{3633BCFB-A50C-481B-BE5C-D6C72859D7BE}" destId="{8F44505C-E126-4C8D-A4F1-77E53C6B92AF}" srcOrd="0" destOrd="0" presId="urn:microsoft.com/office/officeart/2005/8/layout/hierarchy3"/>
    <dgm:cxn modelId="{0049DCD6-345A-4877-8992-04C76121A59E}" srcId="{E8CEF50B-5C5D-4670-8875-D7A81FF67F24}" destId="{85A79D95-EACF-4CFB-8A74-88639A7D45DF}" srcOrd="1" destOrd="0" parTransId="{FF0A5349-A770-4BE4-9A9E-362386B057D0}" sibTransId="{FB901E96-6677-452D-9F18-BDCF2CD2D4D1}"/>
    <dgm:cxn modelId="{9C54FAEC-5FDB-462F-AF0D-E7C794A0F0AF}" srcId="{80484002-8A67-48BA-946F-27F237FDE743}" destId="{0BA0A90C-667C-4719-AEC7-1950391A1DD2}" srcOrd="0" destOrd="0" parTransId="{E27F1A2E-CF07-4AC2-AB04-E31AF24184EE}" sibTransId="{EAF37B78-4C99-4477-8D17-536B2DE3B53B}"/>
    <dgm:cxn modelId="{4B0518F0-4FA5-48D5-B710-3371188CE109}" type="presOf" srcId="{E8CEF50B-5C5D-4670-8875-D7A81FF67F24}" destId="{C47C08DB-FCA0-4E58-987A-46EBAC239A5F}" srcOrd="0" destOrd="0" presId="urn:microsoft.com/office/officeart/2005/8/layout/hierarchy3"/>
    <dgm:cxn modelId="{886CC2F0-2AEA-4DDC-902F-93A4A11C0B5A}" srcId="{85A79D95-EACF-4CFB-8A74-88639A7D45DF}" destId="{B27E1FB4-2EF1-489F-B7CD-AE3119AC22FD}" srcOrd="1" destOrd="0" parTransId="{738B93AF-82B2-45AC-BBF5-590534248EF9}" sibTransId="{CA11C3A1-C301-4032-9E46-9FCAFC182D96}"/>
    <dgm:cxn modelId="{A5AC82FF-19B9-4E69-B3D6-5EDA154501A5}" type="presOf" srcId="{0BA0A90C-667C-4719-AEC7-1950391A1DD2}" destId="{0F08ED6C-B58C-425B-941B-E3CC9DE5C397}" srcOrd="0" destOrd="0" presId="urn:microsoft.com/office/officeart/2005/8/layout/hierarchy3"/>
    <dgm:cxn modelId="{EF1ECC34-0C51-4219-83BA-A9315FA9302D}" type="presParOf" srcId="{C47C08DB-FCA0-4E58-987A-46EBAC239A5F}" destId="{E635274B-7447-40AC-8ADC-74E0019A36A1}" srcOrd="0" destOrd="0" presId="urn:microsoft.com/office/officeart/2005/8/layout/hierarchy3"/>
    <dgm:cxn modelId="{3947B02E-546F-44AE-8CA3-0CB6B35582F1}" type="presParOf" srcId="{E635274B-7447-40AC-8ADC-74E0019A36A1}" destId="{A97FA93B-1C02-4E6A-8EC6-7769EB982068}" srcOrd="0" destOrd="0" presId="urn:microsoft.com/office/officeart/2005/8/layout/hierarchy3"/>
    <dgm:cxn modelId="{47E7BFB3-F379-4910-B267-30AF6C7F6792}" type="presParOf" srcId="{A97FA93B-1C02-4E6A-8EC6-7769EB982068}" destId="{BAA4AB64-C5CF-4D22-8EE9-85FEB621DED6}" srcOrd="0" destOrd="0" presId="urn:microsoft.com/office/officeart/2005/8/layout/hierarchy3"/>
    <dgm:cxn modelId="{21786C6A-0E16-43E9-B659-C39FED71CF03}" type="presParOf" srcId="{A97FA93B-1C02-4E6A-8EC6-7769EB982068}" destId="{911BE966-5B0D-41AF-A0FA-4F93ED9CB926}" srcOrd="1" destOrd="0" presId="urn:microsoft.com/office/officeart/2005/8/layout/hierarchy3"/>
    <dgm:cxn modelId="{A5D4B69F-51C3-4B07-8679-E9D7265753B6}" type="presParOf" srcId="{E635274B-7447-40AC-8ADC-74E0019A36A1}" destId="{DE49DB14-0303-433A-9961-8705B2F103A7}" srcOrd="1" destOrd="0" presId="urn:microsoft.com/office/officeart/2005/8/layout/hierarchy3"/>
    <dgm:cxn modelId="{1273AD6E-34E9-4C4C-B45D-77AC9FF89326}" type="presParOf" srcId="{DE49DB14-0303-433A-9961-8705B2F103A7}" destId="{75222BE0-DF25-4A67-B048-555F34BF555E}" srcOrd="0" destOrd="0" presId="urn:microsoft.com/office/officeart/2005/8/layout/hierarchy3"/>
    <dgm:cxn modelId="{E50B84BD-B039-429F-880C-74CEC9340219}" type="presParOf" srcId="{DE49DB14-0303-433A-9961-8705B2F103A7}" destId="{0F08ED6C-B58C-425B-941B-E3CC9DE5C397}" srcOrd="1" destOrd="0" presId="urn:microsoft.com/office/officeart/2005/8/layout/hierarchy3"/>
    <dgm:cxn modelId="{77416E5E-17D3-47E8-8D7F-DA3ADD10DA4D}" type="presParOf" srcId="{DE49DB14-0303-433A-9961-8705B2F103A7}" destId="{184BF6F5-9506-4DF3-B315-89183E047D0F}" srcOrd="2" destOrd="0" presId="urn:microsoft.com/office/officeart/2005/8/layout/hierarchy3"/>
    <dgm:cxn modelId="{DDA47988-8B2D-454D-A03A-67D5A20C440D}" type="presParOf" srcId="{DE49DB14-0303-433A-9961-8705B2F103A7}" destId="{9364D48E-FFA6-4E53-9ACC-E0C3B72D38A9}" srcOrd="3" destOrd="0" presId="urn:microsoft.com/office/officeart/2005/8/layout/hierarchy3"/>
    <dgm:cxn modelId="{B89EA73F-741E-423C-8359-5E32166AA1E5}" type="presParOf" srcId="{C47C08DB-FCA0-4E58-987A-46EBAC239A5F}" destId="{E67A673B-4FB0-43B7-AB55-D0338E930E53}" srcOrd="1" destOrd="0" presId="urn:microsoft.com/office/officeart/2005/8/layout/hierarchy3"/>
    <dgm:cxn modelId="{5447E3D1-D3CC-4AEC-B34B-CF2A509627C0}" type="presParOf" srcId="{E67A673B-4FB0-43B7-AB55-D0338E930E53}" destId="{477AFB92-9025-4737-85B5-7D9284B30D87}" srcOrd="0" destOrd="0" presId="urn:microsoft.com/office/officeart/2005/8/layout/hierarchy3"/>
    <dgm:cxn modelId="{E063FC59-CFC4-4C06-B0AE-9FB2B865838B}" type="presParOf" srcId="{477AFB92-9025-4737-85B5-7D9284B30D87}" destId="{AAA19417-D042-4735-9C03-5998816CD8C7}" srcOrd="0" destOrd="0" presId="urn:microsoft.com/office/officeart/2005/8/layout/hierarchy3"/>
    <dgm:cxn modelId="{735D8A9E-AD01-4369-B48C-2360B7DF2E41}" type="presParOf" srcId="{477AFB92-9025-4737-85B5-7D9284B30D87}" destId="{A555C382-42AD-40CB-A593-1C99577094D6}" srcOrd="1" destOrd="0" presId="urn:microsoft.com/office/officeart/2005/8/layout/hierarchy3"/>
    <dgm:cxn modelId="{7961A743-0E88-4F34-96D8-59A7D39F8B71}" type="presParOf" srcId="{E67A673B-4FB0-43B7-AB55-D0338E930E53}" destId="{1F3F820A-D1D6-4BC2-8CA0-941C1941800B}" srcOrd="1" destOrd="0" presId="urn:microsoft.com/office/officeart/2005/8/layout/hierarchy3"/>
    <dgm:cxn modelId="{79662F11-A669-4481-A438-EC5E7AE193F8}" type="presParOf" srcId="{1F3F820A-D1D6-4BC2-8CA0-941C1941800B}" destId="{8F44505C-E126-4C8D-A4F1-77E53C6B92AF}" srcOrd="0" destOrd="0" presId="urn:microsoft.com/office/officeart/2005/8/layout/hierarchy3"/>
    <dgm:cxn modelId="{676F0291-2AF7-4B1E-B772-167F4FF457EA}" type="presParOf" srcId="{1F3F820A-D1D6-4BC2-8CA0-941C1941800B}" destId="{408AECE9-58B7-432A-A8CA-BA4A3D129501}" srcOrd="1" destOrd="0" presId="urn:microsoft.com/office/officeart/2005/8/layout/hierarchy3"/>
    <dgm:cxn modelId="{D61DCE69-2140-497E-BFC2-E89840D524CE}" type="presParOf" srcId="{1F3F820A-D1D6-4BC2-8CA0-941C1941800B}" destId="{EAB2952A-C4BE-4176-B7E3-98051FF643FA}" srcOrd="2" destOrd="0" presId="urn:microsoft.com/office/officeart/2005/8/layout/hierarchy3"/>
    <dgm:cxn modelId="{44ABFEE9-CEBF-4A5F-AB0F-44EFF4C65021}" type="presParOf" srcId="{1F3F820A-D1D6-4BC2-8CA0-941C1941800B}" destId="{6972BDD2-0704-4831-B2FD-69B6CA0565D7}" srcOrd="3"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A4AB64-C5CF-4D22-8EE9-85FEB621DED6}">
      <dsp:nvSpPr>
        <dsp:cNvPr id="0" name=""/>
        <dsp:cNvSpPr/>
      </dsp:nvSpPr>
      <dsp:spPr>
        <a:xfrm>
          <a:off x="680719" y="1516"/>
          <a:ext cx="2187505" cy="1093752"/>
        </a:xfrm>
        <a:prstGeom prst="roundRect">
          <a:avLst>
            <a:gd name="adj" fmla="val 10000"/>
          </a:avLst>
        </a:prstGeom>
        <a:solidFill>
          <a:schemeClr val="dk2">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8110" tIns="78740" rIns="118110" bIns="78740" numCol="1" spcCol="1270" anchor="ctr" anchorCtr="0">
          <a:noAutofit/>
        </a:bodyPr>
        <a:lstStyle/>
        <a:p>
          <a:pPr marL="0" lvl="0" indent="0" algn="ctr" defTabSz="2755900">
            <a:lnSpc>
              <a:spcPct val="90000"/>
            </a:lnSpc>
            <a:spcBef>
              <a:spcPct val="0"/>
            </a:spcBef>
            <a:spcAft>
              <a:spcPct val="35000"/>
            </a:spcAft>
            <a:buNone/>
          </a:pPr>
          <a:r>
            <a:rPr lang="en-US" sz="6200" kern="1200" dirty="0"/>
            <a:t>BJT</a:t>
          </a:r>
        </a:p>
      </dsp:txBody>
      <dsp:txXfrm>
        <a:off x="712754" y="33551"/>
        <a:ext cx="2123435" cy="1029682"/>
      </dsp:txXfrm>
    </dsp:sp>
    <dsp:sp modelId="{75222BE0-DF25-4A67-B048-555F34BF555E}">
      <dsp:nvSpPr>
        <dsp:cNvPr id="0" name=""/>
        <dsp:cNvSpPr/>
      </dsp:nvSpPr>
      <dsp:spPr>
        <a:xfrm>
          <a:off x="899469" y="1095269"/>
          <a:ext cx="218750" cy="820314"/>
        </a:xfrm>
        <a:custGeom>
          <a:avLst/>
          <a:gdLst/>
          <a:ahLst/>
          <a:cxnLst/>
          <a:rect l="0" t="0" r="0" b="0"/>
          <a:pathLst>
            <a:path>
              <a:moveTo>
                <a:pt x="0" y="0"/>
              </a:moveTo>
              <a:lnTo>
                <a:pt x="0" y="820314"/>
              </a:lnTo>
              <a:lnTo>
                <a:pt x="218750" y="820314"/>
              </a:lnTo>
            </a:path>
          </a:pathLst>
        </a:custGeom>
        <a:noFill/>
        <a:ln w="12700" cap="flat" cmpd="sng" algn="ctr">
          <a:solidFill>
            <a:schemeClr val="dk2">
              <a:shade val="60000"/>
              <a:hueOff val="0"/>
              <a:satOff val="0"/>
              <a:lumOff val="0"/>
              <a:alphaOff val="0"/>
            </a:schemeClr>
          </a:solidFill>
          <a:prstDash val="solid"/>
          <a:miter lim="800000"/>
        </a:ln>
        <a:effectLst/>
        <a:sp3d z="-25400" prstMaterial="plastic"/>
      </dsp:spPr>
      <dsp:style>
        <a:lnRef idx="2">
          <a:scrgbClr r="0" g="0" b="0"/>
        </a:lnRef>
        <a:fillRef idx="0">
          <a:scrgbClr r="0" g="0" b="0"/>
        </a:fillRef>
        <a:effectRef idx="0">
          <a:scrgbClr r="0" g="0" b="0"/>
        </a:effectRef>
        <a:fontRef idx="minor">
          <a:schemeClr val="tx1"/>
        </a:fontRef>
      </dsp:style>
    </dsp:sp>
    <dsp:sp modelId="{0F08ED6C-B58C-425B-941B-E3CC9DE5C397}">
      <dsp:nvSpPr>
        <dsp:cNvPr id="0" name=""/>
        <dsp:cNvSpPr/>
      </dsp:nvSpPr>
      <dsp:spPr>
        <a:xfrm>
          <a:off x="1118220" y="1368707"/>
          <a:ext cx="1750004" cy="1093752"/>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a:sp3d z="-152400" prstMaterial="plastic">
          <a:bevelT w="25400" h="25400"/>
          <a:bevelB w="25400" h="25400"/>
        </a:sp3d>
      </dsp:spPr>
      <dsp:style>
        <a:lnRef idx="1">
          <a:scrgbClr r="0" g="0" b="0"/>
        </a:lnRef>
        <a:fillRef idx="1">
          <a:scrgbClr r="0" g="0" b="0"/>
        </a:fillRef>
        <a:effectRef idx="2">
          <a:scrgbClr r="0" g="0" b="0"/>
        </a:effectRef>
        <a:fontRef idx="minor"/>
      </dsp:style>
      <dsp:txBody>
        <a:bodyPr spcFirstLastPara="0" vert="horz" wrap="square" lIns="83820" tIns="55880" rIns="83820" bIns="55880" numCol="1" spcCol="1270" anchor="ctr" anchorCtr="0">
          <a:noAutofit/>
        </a:bodyPr>
        <a:lstStyle/>
        <a:p>
          <a:pPr marL="0" lvl="0" indent="0" algn="ctr" defTabSz="1955800">
            <a:lnSpc>
              <a:spcPct val="90000"/>
            </a:lnSpc>
            <a:spcBef>
              <a:spcPct val="0"/>
            </a:spcBef>
            <a:spcAft>
              <a:spcPct val="35000"/>
            </a:spcAft>
            <a:buNone/>
          </a:pPr>
          <a:r>
            <a:rPr lang="en-US" sz="4400" kern="1200" dirty="0"/>
            <a:t>PNP</a:t>
          </a:r>
        </a:p>
      </dsp:txBody>
      <dsp:txXfrm>
        <a:off x="1150255" y="1400742"/>
        <a:ext cx="1685934" cy="1029682"/>
      </dsp:txXfrm>
    </dsp:sp>
    <dsp:sp modelId="{184BF6F5-9506-4DF3-B315-89183E047D0F}">
      <dsp:nvSpPr>
        <dsp:cNvPr id="0" name=""/>
        <dsp:cNvSpPr/>
      </dsp:nvSpPr>
      <dsp:spPr>
        <a:xfrm>
          <a:off x="899469" y="1095269"/>
          <a:ext cx="218750" cy="2187505"/>
        </a:xfrm>
        <a:custGeom>
          <a:avLst/>
          <a:gdLst/>
          <a:ahLst/>
          <a:cxnLst/>
          <a:rect l="0" t="0" r="0" b="0"/>
          <a:pathLst>
            <a:path>
              <a:moveTo>
                <a:pt x="0" y="0"/>
              </a:moveTo>
              <a:lnTo>
                <a:pt x="0" y="2187505"/>
              </a:lnTo>
              <a:lnTo>
                <a:pt x="218750" y="2187505"/>
              </a:lnTo>
            </a:path>
          </a:pathLst>
        </a:custGeom>
        <a:noFill/>
        <a:ln w="12700" cap="flat" cmpd="sng" algn="ctr">
          <a:solidFill>
            <a:schemeClr val="dk2">
              <a:shade val="60000"/>
              <a:hueOff val="0"/>
              <a:satOff val="0"/>
              <a:lumOff val="0"/>
              <a:alphaOff val="0"/>
            </a:schemeClr>
          </a:solidFill>
          <a:prstDash val="solid"/>
          <a:miter lim="800000"/>
        </a:ln>
        <a:effectLst/>
        <a:sp3d z="-25400" prstMaterial="plastic"/>
      </dsp:spPr>
      <dsp:style>
        <a:lnRef idx="2">
          <a:scrgbClr r="0" g="0" b="0"/>
        </a:lnRef>
        <a:fillRef idx="0">
          <a:scrgbClr r="0" g="0" b="0"/>
        </a:fillRef>
        <a:effectRef idx="0">
          <a:scrgbClr r="0" g="0" b="0"/>
        </a:effectRef>
        <a:fontRef idx="minor">
          <a:schemeClr val="tx1"/>
        </a:fontRef>
      </dsp:style>
    </dsp:sp>
    <dsp:sp modelId="{9364D48E-FFA6-4E53-9ACC-E0C3B72D38A9}">
      <dsp:nvSpPr>
        <dsp:cNvPr id="0" name=""/>
        <dsp:cNvSpPr/>
      </dsp:nvSpPr>
      <dsp:spPr>
        <a:xfrm>
          <a:off x="1118220" y="2735897"/>
          <a:ext cx="1750004" cy="1093752"/>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a:sp3d z="-152400" prstMaterial="plastic">
          <a:bevelT w="25400" h="25400"/>
          <a:bevelB w="25400" h="25400"/>
        </a:sp3d>
      </dsp:spPr>
      <dsp:style>
        <a:lnRef idx="1">
          <a:scrgbClr r="0" g="0" b="0"/>
        </a:lnRef>
        <a:fillRef idx="1">
          <a:scrgbClr r="0" g="0" b="0"/>
        </a:fillRef>
        <a:effectRef idx="2">
          <a:scrgbClr r="0" g="0" b="0"/>
        </a:effectRef>
        <a:fontRef idx="minor"/>
      </dsp:style>
      <dsp:txBody>
        <a:bodyPr spcFirstLastPara="0" vert="horz" wrap="square" lIns="83820" tIns="55880" rIns="83820" bIns="55880" numCol="1" spcCol="1270" anchor="ctr" anchorCtr="0">
          <a:noAutofit/>
        </a:bodyPr>
        <a:lstStyle/>
        <a:p>
          <a:pPr marL="0" lvl="0" indent="0" algn="ctr" defTabSz="1955800">
            <a:lnSpc>
              <a:spcPct val="90000"/>
            </a:lnSpc>
            <a:spcBef>
              <a:spcPct val="0"/>
            </a:spcBef>
            <a:spcAft>
              <a:spcPct val="35000"/>
            </a:spcAft>
            <a:buNone/>
          </a:pPr>
          <a:r>
            <a:rPr lang="en-US" sz="4400" kern="1200" dirty="0"/>
            <a:t>NPN</a:t>
          </a:r>
        </a:p>
      </dsp:txBody>
      <dsp:txXfrm>
        <a:off x="1150255" y="2767932"/>
        <a:ext cx="1685934" cy="1029682"/>
      </dsp:txXfrm>
    </dsp:sp>
    <dsp:sp modelId="{AAA19417-D042-4735-9C03-5998816CD8C7}">
      <dsp:nvSpPr>
        <dsp:cNvPr id="0" name=""/>
        <dsp:cNvSpPr/>
      </dsp:nvSpPr>
      <dsp:spPr>
        <a:xfrm>
          <a:off x="3415100" y="1516"/>
          <a:ext cx="2187505" cy="1093752"/>
        </a:xfrm>
        <a:prstGeom prst="roundRect">
          <a:avLst>
            <a:gd name="adj" fmla="val 10000"/>
          </a:avLst>
        </a:prstGeom>
        <a:solidFill>
          <a:schemeClr val="dk2">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8110" tIns="78740" rIns="118110" bIns="78740" numCol="1" spcCol="1270" anchor="ctr" anchorCtr="0">
          <a:noAutofit/>
        </a:bodyPr>
        <a:lstStyle/>
        <a:p>
          <a:pPr marL="0" lvl="0" indent="0" algn="ctr" defTabSz="2755900">
            <a:lnSpc>
              <a:spcPct val="90000"/>
            </a:lnSpc>
            <a:spcBef>
              <a:spcPct val="0"/>
            </a:spcBef>
            <a:spcAft>
              <a:spcPct val="35000"/>
            </a:spcAft>
            <a:buNone/>
          </a:pPr>
          <a:r>
            <a:rPr lang="en-US" sz="6200" kern="1200" dirty="0"/>
            <a:t>FET</a:t>
          </a:r>
        </a:p>
      </dsp:txBody>
      <dsp:txXfrm>
        <a:off x="3447135" y="33551"/>
        <a:ext cx="2123435" cy="1029682"/>
      </dsp:txXfrm>
    </dsp:sp>
    <dsp:sp modelId="{8F44505C-E126-4C8D-A4F1-77E53C6B92AF}">
      <dsp:nvSpPr>
        <dsp:cNvPr id="0" name=""/>
        <dsp:cNvSpPr/>
      </dsp:nvSpPr>
      <dsp:spPr>
        <a:xfrm>
          <a:off x="3633851" y="1095269"/>
          <a:ext cx="218750" cy="820314"/>
        </a:xfrm>
        <a:custGeom>
          <a:avLst/>
          <a:gdLst/>
          <a:ahLst/>
          <a:cxnLst/>
          <a:rect l="0" t="0" r="0" b="0"/>
          <a:pathLst>
            <a:path>
              <a:moveTo>
                <a:pt x="0" y="0"/>
              </a:moveTo>
              <a:lnTo>
                <a:pt x="0" y="820314"/>
              </a:lnTo>
              <a:lnTo>
                <a:pt x="218750" y="820314"/>
              </a:lnTo>
            </a:path>
          </a:pathLst>
        </a:custGeom>
        <a:noFill/>
        <a:ln w="12700" cap="flat" cmpd="sng" algn="ctr">
          <a:solidFill>
            <a:schemeClr val="dk2">
              <a:shade val="60000"/>
              <a:hueOff val="0"/>
              <a:satOff val="0"/>
              <a:lumOff val="0"/>
              <a:alphaOff val="0"/>
            </a:schemeClr>
          </a:solidFill>
          <a:prstDash val="solid"/>
          <a:miter lim="800000"/>
        </a:ln>
        <a:effectLst/>
        <a:sp3d z="-25400" prstMaterial="plastic"/>
      </dsp:spPr>
      <dsp:style>
        <a:lnRef idx="2">
          <a:scrgbClr r="0" g="0" b="0"/>
        </a:lnRef>
        <a:fillRef idx="0">
          <a:scrgbClr r="0" g="0" b="0"/>
        </a:fillRef>
        <a:effectRef idx="0">
          <a:scrgbClr r="0" g="0" b="0"/>
        </a:effectRef>
        <a:fontRef idx="minor">
          <a:schemeClr val="tx1"/>
        </a:fontRef>
      </dsp:style>
    </dsp:sp>
    <dsp:sp modelId="{408AECE9-58B7-432A-A8CA-BA4A3D129501}">
      <dsp:nvSpPr>
        <dsp:cNvPr id="0" name=""/>
        <dsp:cNvSpPr/>
      </dsp:nvSpPr>
      <dsp:spPr>
        <a:xfrm>
          <a:off x="3852601" y="1368707"/>
          <a:ext cx="1750004" cy="1093752"/>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a:sp3d z="-152400" prstMaterial="plastic">
          <a:bevelT w="25400" h="25400"/>
          <a:bevelB w="25400" h="25400"/>
        </a:sp3d>
      </dsp:spPr>
      <dsp:style>
        <a:lnRef idx="1">
          <a:scrgbClr r="0" g="0" b="0"/>
        </a:lnRef>
        <a:fillRef idx="1">
          <a:scrgbClr r="0" g="0" b="0"/>
        </a:fillRef>
        <a:effectRef idx="2">
          <a:scrgbClr r="0" g="0" b="0"/>
        </a:effectRef>
        <a:fontRef idx="minor"/>
      </dsp:style>
      <dsp:txBody>
        <a:bodyPr spcFirstLastPara="0" vert="horz" wrap="square" lIns="83820" tIns="55880" rIns="83820" bIns="55880" numCol="1" spcCol="1270" anchor="ctr" anchorCtr="0">
          <a:noAutofit/>
        </a:bodyPr>
        <a:lstStyle/>
        <a:p>
          <a:pPr marL="0" lvl="0" indent="0" algn="ctr" defTabSz="1955800">
            <a:lnSpc>
              <a:spcPct val="90000"/>
            </a:lnSpc>
            <a:spcBef>
              <a:spcPct val="0"/>
            </a:spcBef>
            <a:spcAft>
              <a:spcPct val="35000"/>
            </a:spcAft>
            <a:buNone/>
          </a:pPr>
          <a:r>
            <a:rPr lang="en-US" sz="4400" kern="1200" dirty="0"/>
            <a:t>JFET</a:t>
          </a:r>
        </a:p>
      </dsp:txBody>
      <dsp:txXfrm>
        <a:off x="3884636" y="1400742"/>
        <a:ext cx="1685934" cy="1029682"/>
      </dsp:txXfrm>
    </dsp:sp>
    <dsp:sp modelId="{EAB2952A-C4BE-4176-B7E3-98051FF643FA}">
      <dsp:nvSpPr>
        <dsp:cNvPr id="0" name=""/>
        <dsp:cNvSpPr/>
      </dsp:nvSpPr>
      <dsp:spPr>
        <a:xfrm>
          <a:off x="3633851" y="1095269"/>
          <a:ext cx="218750" cy="2187505"/>
        </a:xfrm>
        <a:custGeom>
          <a:avLst/>
          <a:gdLst/>
          <a:ahLst/>
          <a:cxnLst/>
          <a:rect l="0" t="0" r="0" b="0"/>
          <a:pathLst>
            <a:path>
              <a:moveTo>
                <a:pt x="0" y="0"/>
              </a:moveTo>
              <a:lnTo>
                <a:pt x="0" y="2187505"/>
              </a:lnTo>
              <a:lnTo>
                <a:pt x="218750" y="2187505"/>
              </a:lnTo>
            </a:path>
          </a:pathLst>
        </a:custGeom>
        <a:noFill/>
        <a:ln w="12700" cap="flat" cmpd="sng" algn="ctr">
          <a:solidFill>
            <a:schemeClr val="dk2">
              <a:shade val="60000"/>
              <a:hueOff val="0"/>
              <a:satOff val="0"/>
              <a:lumOff val="0"/>
              <a:alphaOff val="0"/>
            </a:schemeClr>
          </a:solidFill>
          <a:prstDash val="solid"/>
          <a:miter lim="800000"/>
        </a:ln>
        <a:effectLst/>
        <a:sp3d z="-25400" prstMaterial="plastic"/>
      </dsp:spPr>
      <dsp:style>
        <a:lnRef idx="2">
          <a:scrgbClr r="0" g="0" b="0"/>
        </a:lnRef>
        <a:fillRef idx="0">
          <a:scrgbClr r="0" g="0" b="0"/>
        </a:fillRef>
        <a:effectRef idx="0">
          <a:scrgbClr r="0" g="0" b="0"/>
        </a:effectRef>
        <a:fontRef idx="minor">
          <a:schemeClr val="tx1"/>
        </a:fontRef>
      </dsp:style>
    </dsp:sp>
    <dsp:sp modelId="{6972BDD2-0704-4831-B2FD-69B6CA0565D7}">
      <dsp:nvSpPr>
        <dsp:cNvPr id="0" name=""/>
        <dsp:cNvSpPr/>
      </dsp:nvSpPr>
      <dsp:spPr>
        <a:xfrm>
          <a:off x="3852601" y="2735897"/>
          <a:ext cx="1750004" cy="1093752"/>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a:sp3d z="-152400" prstMaterial="plastic">
          <a:bevelT w="25400" h="25400"/>
          <a:bevelB w="25400" h="25400"/>
        </a:sp3d>
      </dsp:spPr>
      <dsp:style>
        <a:lnRef idx="1">
          <a:scrgbClr r="0" g="0" b="0"/>
        </a:lnRef>
        <a:fillRef idx="1">
          <a:scrgbClr r="0" g="0" b="0"/>
        </a:fillRef>
        <a:effectRef idx="2">
          <a:scrgbClr r="0" g="0" b="0"/>
        </a:effectRef>
        <a:fontRef idx="minor"/>
      </dsp:style>
      <dsp:txBody>
        <a:bodyPr spcFirstLastPara="0" vert="horz" wrap="square" lIns="66675" tIns="44450" rIns="66675" bIns="44450" numCol="1" spcCol="1270" anchor="ctr" anchorCtr="0">
          <a:noAutofit/>
        </a:bodyPr>
        <a:lstStyle/>
        <a:p>
          <a:pPr marL="0" lvl="0" indent="0" algn="ctr" defTabSz="1555750">
            <a:lnSpc>
              <a:spcPct val="90000"/>
            </a:lnSpc>
            <a:spcBef>
              <a:spcPct val="0"/>
            </a:spcBef>
            <a:spcAft>
              <a:spcPct val="35000"/>
            </a:spcAft>
            <a:buNone/>
          </a:pPr>
          <a:r>
            <a:rPr lang="en-US" sz="3500" kern="1200" dirty="0"/>
            <a:t>MOSFET</a:t>
          </a:r>
        </a:p>
      </dsp:txBody>
      <dsp:txXfrm>
        <a:off x="3884636" y="2767932"/>
        <a:ext cx="1685934" cy="102968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BC6FA-49D8-F5CD-62FC-7F5DC99D7D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6A7CAE-1088-B961-7905-8569F62E32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DA690A7-48D1-DEA9-47B1-0D1C69BDB322}"/>
              </a:ext>
            </a:extLst>
          </p:cNvPr>
          <p:cNvSpPr>
            <a:spLocks noGrp="1"/>
          </p:cNvSpPr>
          <p:nvPr>
            <p:ph type="dt" sz="half" idx="10"/>
          </p:nvPr>
        </p:nvSpPr>
        <p:spPr/>
        <p:txBody>
          <a:bodyPr/>
          <a:lstStyle/>
          <a:p>
            <a:fld id="{B8B9181E-290A-4BD6-87E6-4D2CD43EAAA5}" type="datetimeFigureOut">
              <a:rPr lang="en-US" smtClean="0"/>
              <a:t>1/15/2026</a:t>
            </a:fld>
            <a:endParaRPr lang="en-US"/>
          </a:p>
        </p:txBody>
      </p:sp>
      <p:sp>
        <p:nvSpPr>
          <p:cNvPr id="5" name="Footer Placeholder 4">
            <a:extLst>
              <a:ext uri="{FF2B5EF4-FFF2-40B4-BE49-F238E27FC236}">
                <a16:creationId xmlns:a16="http://schemas.microsoft.com/office/drawing/2014/main" id="{FE5BFBF3-E6C5-D171-540B-406180B756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BE2DCE-7001-DDA7-6228-DC402CD5E87F}"/>
              </a:ext>
            </a:extLst>
          </p:cNvPr>
          <p:cNvSpPr>
            <a:spLocks noGrp="1"/>
          </p:cNvSpPr>
          <p:nvPr>
            <p:ph type="sldNum" sz="quarter" idx="12"/>
          </p:nvPr>
        </p:nvSpPr>
        <p:spPr/>
        <p:txBody>
          <a:bodyPr/>
          <a:lstStyle/>
          <a:p>
            <a:fld id="{8C799CD6-8C92-4F1C-B4F5-AAE005EDD683}" type="slidenum">
              <a:rPr lang="en-US" smtClean="0"/>
              <a:t>‹#›</a:t>
            </a:fld>
            <a:endParaRPr lang="en-US"/>
          </a:p>
        </p:txBody>
      </p:sp>
    </p:spTree>
    <p:extLst>
      <p:ext uri="{BB962C8B-B14F-4D97-AF65-F5344CB8AC3E}">
        <p14:creationId xmlns:p14="http://schemas.microsoft.com/office/powerpoint/2010/main" val="3235463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A69B3-F084-4DEF-7056-E2AD0D2C9E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B16C89-6127-D594-B44D-DB4A59818E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787EFB-3357-74FE-3354-10A745A01907}"/>
              </a:ext>
            </a:extLst>
          </p:cNvPr>
          <p:cNvSpPr>
            <a:spLocks noGrp="1"/>
          </p:cNvSpPr>
          <p:nvPr>
            <p:ph type="dt" sz="half" idx="10"/>
          </p:nvPr>
        </p:nvSpPr>
        <p:spPr/>
        <p:txBody>
          <a:bodyPr/>
          <a:lstStyle/>
          <a:p>
            <a:fld id="{B8B9181E-290A-4BD6-87E6-4D2CD43EAAA5}" type="datetimeFigureOut">
              <a:rPr lang="en-US" smtClean="0"/>
              <a:t>1/15/2026</a:t>
            </a:fld>
            <a:endParaRPr lang="en-US"/>
          </a:p>
        </p:txBody>
      </p:sp>
      <p:sp>
        <p:nvSpPr>
          <p:cNvPr id="5" name="Footer Placeholder 4">
            <a:extLst>
              <a:ext uri="{FF2B5EF4-FFF2-40B4-BE49-F238E27FC236}">
                <a16:creationId xmlns:a16="http://schemas.microsoft.com/office/drawing/2014/main" id="{C5E65396-47CD-CEE9-DBE1-F493F22A78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980BD3-AEA8-0613-8131-07B477D84A88}"/>
              </a:ext>
            </a:extLst>
          </p:cNvPr>
          <p:cNvSpPr>
            <a:spLocks noGrp="1"/>
          </p:cNvSpPr>
          <p:nvPr>
            <p:ph type="sldNum" sz="quarter" idx="12"/>
          </p:nvPr>
        </p:nvSpPr>
        <p:spPr/>
        <p:txBody>
          <a:bodyPr/>
          <a:lstStyle/>
          <a:p>
            <a:fld id="{8C799CD6-8C92-4F1C-B4F5-AAE005EDD683}" type="slidenum">
              <a:rPr lang="en-US" smtClean="0"/>
              <a:t>‹#›</a:t>
            </a:fld>
            <a:endParaRPr lang="en-US"/>
          </a:p>
        </p:txBody>
      </p:sp>
    </p:spTree>
    <p:extLst>
      <p:ext uri="{BB962C8B-B14F-4D97-AF65-F5344CB8AC3E}">
        <p14:creationId xmlns:p14="http://schemas.microsoft.com/office/powerpoint/2010/main" val="824945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E8699-C753-204F-9F57-D53297CDE5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EDAA377-0565-6966-EA40-B3AFB68329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A8F327-B73A-0A7A-1C9A-7E2315CB42C3}"/>
              </a:ext>
            </a:extLst>
          </p:cNvPr>
          <p:cNvSpPr>
            <a:spLocks noGrp="1"/>
          </p:cNvSpPr>
          <p:nvPr>
            <p:ph type="dt" sz="half" idx="10"/>
          </p:nvPr>
        </p:nvSpPr>
        <p:spPr/>
        <p:txBody>
          <a:bodyPr/>
          <a:lstStyle/>
          <a:p>
            <a:fld id="{B8B9181E-290A-4BD6-87E6-4D2CD43EAAA5}" type="datetimeFigureOut">
              <a:rPr lang="en-US" smtClean="0"/>
              <a:t>1/15/2026</a:t>
            </a:fld>
            <a:endParaRPr lang="en-US"/>
          </a:p>
        </p:txBody>
      </p:sp>
      <p:sp>
        <p:nvSpPr>
          <p:cNvPr id="5" name="Footer Placeholder 4">
            <a:extLst>
              <a:ext uri="{FF2B5EF4-FFF2-40B4-BE49-F238E27FC236}">
                <a16:creationId xmlns:a16="http://schemas.microsoft.com/office/drawing/2014/main" id="{567E9A0E-F487-C12E-1774-89915847A0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E84916-2084-209E-341A-272AC343D2E4}"/>
              </a:ext>
            </a:extLst>
          </p:cNvPr>
          <p:cNvSpPr>
            <a:spLocks noGrp="1"/>
          </p:cNvSpPr>
          <p:nvPr>
            <p:ph type="sldNum" sz="quarter" idx="12"/>
          </p:nvPr>
        </p:nvSpPr>
        <p:spPr/>
        <p:txBody>
          <a:bodyPr/>
          <a:lstStyle/>
          <a:p>
            <a:fld id="{8C799CD6-8C92-4F1C-B4F5-AAE005EDD683}" type="slidenum">
              <a:rPr lang="en-US" smtClean="0"/>
              <a:t>‹#›</a:t>
            </a:fld>
            <a:endParaRPr lang="en-US"/>
          </a:p>
        </p:txBody>
      </p:sp>
    </p:spTree>
    <p:extLst>
      <p:ext uri="{BB962C8B-B14F-4D97-AF65-F5344CB8AC3E}">
        <p14:creationId xmlns:p14="http://schemas.microsoft.com/office/powerpoint/2010/main" val="3653108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BEB75-B8C9-BA04-0B00-AAF2D4FB35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D69310-8BA4-F4EB-85F2-BCA85018CE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9E2DF3-5F92-6F35-D453-43D78DC107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2639BA-395C-2BA7-044C-63AEA185FCDA}"/>
              </a:ext>
            </a:extLst>
          </p:cNvPr>
          <p:cNvSpPr>
            <a:spLocks noGrp="1"/>
          </p:cNvSpPr>
          <p:nvPr>
            <p:ph type="dt" sz="half" idx="10"/>
          </p:nvPr>
        </p:nvSpPr>
        <p:spPr/>
        <p:txBody>
          <a:bodyPr/>
          <a:lstStyle/>
          <a:p>
            <a:fld id="{B8B9181E-290A-4BD6-87E6-4D2CD43EAAA5}" type="datetimeFigureOut">
              <a:rPr lang="en-US" smtClean="0"/>
              <a:t>1/15/2026</a:t>
            </a:fld>
            <a:endParaRPr lang="en-US"/>
          </a:p>
        </p:txBody>
      </p:sp>
      <p:sp>
        <p:nvSpPr>
          <p:cNvPr id="6" name="Footer Placeholder 5">
            <a:extLst>
              <a:ext uri="{FF2B5EF4-FFF2-40B4-BE49-F238E27FC236}">
                <a16:creationId xmlns:a16="http://schemas.microsoft.com/office/drawing/2014/main" id="{60D64F8A-423D-A2DB-3D0D-C6CBD133F4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2DE80B-DC6A-8E06-2334-CA643CAD4903}"/>
              </a:ext>
            </a:extLst>
          </p:cNvPr>
          <p:cNvSpPr>
            <a:spLocks noGrp="1"/>
          </p:cNvSpPr>
          <p:nvPr>
            <p:ph type="sldNum" sz="quarter" idx="12"/>
          </p:nvPr>
        </p:nvSpPr>
        <p:spPr/>
        <p:txBody>
          <a:bodyPr/>
          <a:lstStyle/>
          <a:p>
            <a:fld id="{8C799CD6-8C92-4F1C-B4F5-AAE005EDD683}" type="slidenum">
              <a:rPr lang="en-US" smtClean="0"/>
              <a:t>‹#›</a:t>
            </a:fld>
            <a:endParaRPr lang="en-US"/>
          </a:p>
        </p:txBody>
      </p:sp>
    </p:spTree>
    <p:extLst>
      <p:ext uri="{BB962C8B-B14F-4D97-AF65-F5344CB8AC3E}">
        <p14:creationId xmlns:p14="http://schemas.microsoft.com/office/powerpoint/2010/main" val="2926801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E9E13-E4A3-03B1-B40B-22BBF166CB3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B3729C-603E-89DC-6853-14E6C0440E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B9FC5F-18C4-8144-8675-4C07258C80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A9DEDD-619F-0010-3EA9-08793CBA66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624020-7269-65EF-7E70-C91EC7CB9D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F23297-3155-2A37-D02A-61976A7DED23}"/>
              </a:ext>
            </a:extLst>
          </p:cNvPr>
          <p:cNvSpPr>
            <a:spLocks noGrp="1"/>
          </p:cNvSpPr>
          <p:nvPr>
            <p:ph type="dt" sz="half" idx="10"/>
          </p:nvPr>
        </p:nvSpPr>
        <p:spPr/>
        <p:txBody>
          <a:bodyPr/>
          <a:lstStyle/>
          <a:p>
            <a:fld id="{B8B9181E-290A-4BD6-87E6-4D2CD43EAAA5}" type="datetimeFigureOut">
              <a:rPr lang="en-US" smtClean="0"/>
              <a:t>1/15/2026</a:t>
            </a:fld>
            <a:endParaRPr lang="en-US"/>
          </a:p>
        </p:txBody>
      </p:sp>
      <p:sp>
        <p:nvSpPr>
          <p:cNvPr id="8" name="Footer Placeholder 7">
            <a:extLst>
              <a:ext uri="{FF2B5EF4-FFF2-40B4-BE49-F238E27FC236}">
                <a16:creationId xmlns:a16="http://schemas.microsoft.com/office/drawing/2014/main" id="{73C355DD-B5D1-642D-A04A-3AF23B1DD58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8C6C60D-03B4-FCE5-1D35-5FFA127A195C}"/>
              </a:ext>
            </a:extLst>
          </p:cNvPr>
          <p:cNvSpPr>
            <a:spLocks noGrp="1"/>
          </p:cNvSpPr>
          <p:nvPr>
            <p:ph type="sldNum" sz="quarter" idx="12"/>
          </p:nvPr>
        </p:nvSpPr>
        <p:spPr/>
        <p:txBody>
          <a:bodyPr/>
          <a:lstStyle/>
          <a:p>
            <a:fld id="{8C799CD6-8C92-4F1C-B4F5-AAE005EDD683}" type="slidenum">
              <a:rPr lang="en-US" smtClean="0"/>
              <a:t>‹#›</a:t>
            </a:fld>
            <a:endParaRPr lang="en-US"/>
          </a:p>
        </p:txBody>
      </p:sp>
    </p:spTree>
    <p:extLst>
      <p:ext uri="{BB962C8B-B14F-4D97-AF65-F5344CB8AC3E}">
        <p14:creationId xmlns:p14="http://schemas.microsoft.com/office/powerpoint/2010/main" val="3190088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E534-136D-D4EB-FE09-FF49BA6D319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E60825F-7715-C8EB-00E2-B2D444ABDE4B}"/>
              </a:ext>
            </a:extLst>
          </p:cNvPr>
          <p:cNvSpPr>
            <a:spLocks noGrp="1"/>
          </p:cNvSpPr>
          <p:nvPr>
            <p:ph type="dt" sz="half" idx="10"/>
          </p:nvPr>
        </p:nvSpPr>
        <p:spPr/>
        <p:txBody>
          <a:bodyPr/>
          <a:lstStyle/>
          <a:p>
            <a:fld id="{B8B9181E-290A-4BD6-87E6-4D2CD43EAAA5}" type="datetimeFigureOut">
              <a:rPr lang="en-US" smtClean="0"/>
              <a:t>1/15/2026</a:t>
            </a:fld>
            <a:endParaRPr lang="en-US"/>
          </a:p>
        </p:txBody>
      </p:sp>
      <p:sp>
        <p:nvSpPr>
          <p:cNvPr id="4" name="Footer Placeholder 3">
            <a:extLst>
              <a:ext uri="{FF2B5EF4-FFF2-40B4-BE49-F238E27FC236}">
                <a16:creationId xmlns:a16="http://schemas.microsoft.com/office/drawing/2014/main" id="{AB3A2AEE-9C12-176C-3792-4A63B5906A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3C48D6A-4830-57F7-FB59-52FE0200B161}"/>
              </a:ext>
            </a:extLst>
          </p:cNvPr>
          <p:cNvSpPr>
            <a:spLocks noGrp="1"/>
          </p:cNvSpPr>
          <p:nvPr>
            <p:ph type="sldNum" sz="quarter" idx="12"/>
          </p:nvPr>
        </p:nvSpPr>
        <p:spPr/>
        <p:txBody>
          <a:bodyPr/>
          <a:lstStyle/>
          <a:p>
            <a:fld id="{8C799CD6-8C92-4F1C-B4F5-AAE005EDD683}" type="slidenum">
              <a:rPr lang="en-US" smtClean="0"/>
              <a:t>‹#›</a:t>
            </a:fld>
            <a:endParaRPr lang="en-US"/>
          </a:p>
        </p:txBody>
      </p:sp>
    </p:spTree>
    <p:extLst>
      <p:ext uri="{BB962C8B-B14F-4D97-AF65-F5344CB8AC3E}">
        <p14:creationId xmlns:p14="http://schemas.microsoft.com/office/powerpoint/2010/main" val="1900376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31786D-C672-4E2F-3CB8-FB0CBB05AB00}"/>
              </a:ext>
            </a:extLst>
          </p:cNvPr>
          <p:cNvSpPr>
            <a:spLocks noGrp="1"/>
          </p:cNvSpPr>
          <p:nvPr>
            <p:ph type="dt" sz="half" idx="10"/>
          </p:nvPr>
        </p:nvSpPr>
        <p:spPr/>
        <p:txBody>
          <a:bodyPr/>
          <a:lstStyle/>
          <a:p>
            <a:fld id="{B8B9181E-290A-4BD6-87E6-4D2CD43EAAA5}" type="datetimeFigureOut">
              <a:rPr lang="en-US" smtClean="0"/>
              <a:t>1/15/2026</a:t>
            </a:fld>
            <a:endParaRPr lang="en-US"/>
          </a:p>
        </p:txBody>
      </p:sp>
      <p:sp>
        <p:nvSpPr>
          <p:cNvPr id="3" name="Footer Placeholder 2">
            <a:extLst>
              <a:ext uri="{FF2B5EF4-FFF2-40B4-BE49-F238E27FC236}">
                <a16:creationId xmlns:a16="http://schemas.microsoft.com/office/drawing/2014/main" id="{175869F8-645E-636D-1D3B-51621680C1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EACAFF-73C6-ED9B-5B17-710B324800C4}"/>
              </a:ext>
            </a:extLst>
          </p:cNvPr>
          <p:cNvSpPr>
            <a:spLocks noGrp="1"/>
          </p:cNvSpPr>
          <p:nvPr>
            <p:ph type="sldNum" sz="quarter" idx="12"/>
          </p:nvPr>
        </p:nvSpPr>
        <p:spPr/>
        <p:txBody>
          <a:bodyPr/>
          <a:lstStyle/>
          <a:p>
            <a:fld id="{8C799CD6-8C92-4F1C-B4F5-AAE005EDD683}" type="slidenum">
              <a:rPr lang="en-US" smtClean="0"/>
              <a:t>‹#›</a:t>
            </a:fld>
            <a:endParaRPr lang="en-US"/>
          </a:p>
        </p:txBody>
      </p:sp>
    </p:spTree>
    <p:extLst>
      <p:ext uri="{BB962C8B-B14F-4D97-AF65-F5344CB8AC3E}">
        <p14:creationId xmlns:p14="http://schemas.microsoft.com/office/powerpoint/2010/main" val="1985827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E328E-AD74-1221-CF40-F46D59DA72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7504455-A2A4-7BF7-B9F5-801140F62D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C47FE32-E61A-1902-A319-B010C2658F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8C7FFD-2D05-BBBA-1A54-9D421FF6042B}"/>
              </a:ext>
            </a:extLst>
          </p:cNvPr>
          <p:cNvSpPr>
            <a:spLocks noGrp="1"/>
          </p:cNvSpPr>
          <p:nvPr>
            <p:ph type="dt" sz="half" idx="10"/>
          </p:nvPr>
        </p:nvSpPr>
        <p:spPr/>
        <p:txBody>
          <a:bodyPr/>
          <a:lstStyle/>
          <a:p>
            <a:fld id="{B8B9181E-290A-4BD6-87E6-4D2CD43EAAA5}" type="datetimeFigureOut">
              <a:rPr lang="en-US" smtClean="0"/>
              <a:t>1/15/2026</a:t>
            </a:fld>
            <a:endParaRPr lang="en-US"/>
          </a:p>
        </p:txBody>
      </p:sp>
      <p:sp>
        <p:nvSpPr>
          <p:cNvPr id="6" name="Footer Placeholder 5">
            <a:extLst>
              <a:ext uri="{FF2B5EF4-FFF2-40B4-BE49-F238E27FC236}">
                <a16:creationId xmlns:a16="http://schemas.microsoft.com/office/drawing/2014/main" id="{53F06611-9743-949C-A8AE-FA873ABF92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7CC5CB-A695-B10C-18A2-8E8B61170FB7}"/>
              </a:ext>
            </a:extLst>
          </p:cNvPr>
          <p:cNvSpPr>
            <a:spLocks noGrp="1"/>
          </p:cNvSpPr>
          <p:nvPr>
            <p:ph type="sldNum" sz="quarter" idx="12"/>
          </p:nvPr>
        </p:nvSpPr>
        <p:spPr/>
        <p:txBody>
          <a:bodyPr/>
          <a:lstStyle/>
          <a:p>
            <a:fld id="{8C799CD6-8C92-4F1C-B4F5-AAE005EDD683}" type="slidenum">
              <a:rPr lang="en-US" smtClean="0"/>
              <a:t>‹#›</a:t>
            </a:fld>
            <a:endParaRPr lang="en-US"/>
          </a:p>
        </p:txBody>
      </p:sp>
    </p:spTree>
    <p:extLst>
      <p:ext uri="{BB962C8B-B14F-4D97-AF65-F5344CB8AC3E}">
        <p14:creationId xmlns:p14="http://schemas.microsoft.com/office/powerpoint/2010/main" val="3708322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AC21D-8985-F327-A0FA-BB79229CC9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B645A43-D2AD-CC41-288A-CABD5824C5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1A4980F-1F24-B934-3AB8-BD09FB98FC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4B65D5-06A0-1096-10A0-66556019D45F}"/>
              </a:ext>
            </a:extLst>
          </p:cNvPr>
          <p:cNvSpPr>
            <a:spLocks noGrp="1"/>
          </p:cNvSpPr>
          <p:nvPr>
            <p:ph type="dt" sz="half" idx="10"/>
          </p:nvPr>
        </p:nvSpPr>
        <p:spPr/>
        <p:txBody>
          <a:bodyPr/>
          <a:lstStyle/>
          <a:p>
            <a:fld id="{B8B9181E-290A-4BD6-87E6-4D2CD43EAAA5}" type="datetimeFigureOut">
              <a:rPr lang="en-US" smtClean="0"/>
              <a:t>1/15/2026</a:t>
            </a:fld>
            <a:endParaRPr lang="en-US"/>
          </a:p>
        </p:txBody>
      </p:sp>
      <p:sp>
        <p:nvSpPr>
          <p:cNvPr id="6" name="Footer Placeholder 5">
            <a:extLst>
              <a:ext uri="{FF2B5EF4-FFF2-40B4-BE49-F238E27FC236}">
                <a16:creationId xmlns:a16="http://schemas.microsoft.com/office/drawing/2014/main" id="{F01DE7EE-2A5A-AD7C-A8C9-01C9857526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00F214-AE98-D5D9-AF7C-DA6D2BB93597}"/>
              </a:ext>
            </a:extLst>
          </p:cNvPr>
          <p:cNvSpPr>
            <a:spLocks noGrp="1"/>
          </p:cNvSpPr>
          <p:nvPr>
            <p:ph type="sldNum" sz="quarter" idx="12"/>
          </p:nvPr>
        </p:nvSpPr>
        <p:spPr/>
        <p:txBody>
          <a:bodyPr/>
          <a:lstStyle/>
          <a:p>
            <a:fld id="{8C799CD6-8C92-4F1C-B4F5-AAE005EDD683}" type="slidenum">
              <a:rPr lang="en-US" smtClean="0"/>
              <a:t>‹#›</a:t>
            </a:fld>
            <a:endParaRPr lang="en-US"/>
          </a:p>
        </p:txBody>
      </p:sp>
    </p:spTree>
    <p:extLst>
      <p:ext uri="{BB962C8B-B14F-4D97-AF65-F5344CB8AC3E}">
        <p14:creationId xmlns:p14="http://schemas.microsoft.com/office/powerpoint/2010/main" val="1727793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611EB-3F50-D90F-5FE9-A992E3A871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2B0CD7A-8F6C-B900-84F0-18B6B1F8B5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D5DAC0-0E2E-F023-8964-71D3F9CFAD57}"/>
              </a:ext>
            </a:extLst>
          </p:cNvPr>
          <p:cNvSpPr>
            <a:spLocks noGrp="1"/>
          </p:cNvSpPr>
          <p:nvPr>
            <p:ph type="dt" sz="half" idx="10"/>
          </p:nvPr>
        </p:nvSpPr>
        <p:spPr/>
        <p:txBody>
          <a:bodyPr/>
          <a:lstStyle/>
          <a:p>
            <a:fld id="{B8B9181E-290A-4BD6-87E6-4D2CD43EAAA5}" type="datetimeFigureOut">
              <a:rPr lang="en-US" smtClean="0"/>
              <a:t>1/15/2026</a:t>
            </a:fld>
            <a:endParaRPr lang="en-US"/>
          </a:p>
        </p:txBody>
      </p:sp>
      <p:sp>
        <p:nvSpPr>
          <p:cNvPr id="5" name="Footer Placeholder 4">
            <a:extLst>
              <a:ext uri="{FF2B5EF4-FFF2-40B4-BE49-F238E27FC236}">
                <a16:creationId xmlns:a16="http://schemas.microsoft.com/office/drawing/2014/main" id="{B20D033B-E582-5860-C195-70D9FA6993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48AB65-B92D-3FAD-CFCA-E51BB342C7FF}"/>
              </a:ext>
            </a:extLst>
          </p:cNvPr>
          <p:cNvSpPr>
            <a:spLocks noGrp="1"/>
          </p:cNvSpPr>
          <p:nvPr>
            <p:ph type="sldNum" sz="quarter" idx="12"/>
          </p:nvPr>
        </p:nvSpPr>
        <p:spPr/>
        <p:txBody>
          <a:bodyPr/>
          <a:lstStyle/>
          <a:p>
            <a:fld id="{8C799CD6-8C92-4F1C-B4F5-AAE005EDD683}" type="slidenum">
              <a:rPr lang="en-US" smtClean="0"/>
              <a:t>‹#›</a:t>
            </a:fld>
            <a:endParaRPr lang="en-US"/>
          </a:p>
        </p:txBody>
      </p:sp>
    </p:spTree>
    <p:extLst>
      <p:ext uri="{BB962C8B-B14F-4D97-AF65-F5344CB8AC3E}">
        <p14:creationId xmlns:p14="http://schemas.microsoft.com/office/powerpoint/2010/main" val="3797868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48E280-F2DC-546D-4F83-E4FFC995B78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94E03CE-C204-ED40-BF79-82D0E502E4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029484-FD21-B101-495D-997D942A885D}"/>
              </a:ext>
            </a:extLst>
          </p:cNvPr>
          <p:cNvSpPr>
            <a:spLocks noGrp="1"/>
          </p:cNvSpPr>
          <p:nvPr>
            <p:ph type="dt" sz="half" idx="10"/>
          </p:nvPr>
        </p:nvSpPr>
        <p:spPr/>
        <p:txBody>
          <a:bodyPr/>
          <a:lstStyle/>
          <a:p>
            <a:fld id="{B8B9181E-290A-4BD6-87E6-4D2CD43EAAA5}" type="datetimeFigureOut">
              <a:rPr lang="en-US" smtClean="0"/>
              <a:t>1/15/2026</a:t>
            </a:fld>
            <a:endParaRPr lang="en-US"/>
          </a:p>
        </p:txBody>
      </p:sp>
      <p:sp>
        <p:nvSpPr>
          <p:cNvPr id="5" name="Footer Placeholder 4">
            <a:extLst>
              <a:ext uri="{FF2B5EF4-FFF2-40B4-BE49-F238E27FC236}">
                <a16:creationId xmlns:a16="http://schemas.microsoft.com/office/drawing/2014/main" id="{415DE4DE-57EC-12F4-20FB-29FE0916FA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63DF42-1787-BB6F-892D-881EC94A73C2}"/>
              </a:ext>
            </a:extLst>
          </p:cNvPr>
          <p:cNvSpPr>
            <a:spLocks noGrp="1"/>
          </p:cNvSpPr>
          <p:nvPr>
            <p:ph type="sldNum" sz="quarter" idx="12"/>
          </p:nvPr>
        </p:nvSpPr>
        <p:spPr/>
        <p:txBody>
          <a:bodyPr/>
          <a:lstStyle/>
          <a:p>
            <a:fld id="{8C799CD6-8C92-4F1C-B4F5-AAE005EDD683}" type="slidenum">
              <a:rPr lang="en-US" smtClean="0"/>
              <a:t>‹#›</a:t>
            </a:fld>
            <a:endParaRPr lang="en-US"/>
          </a:p>
        </p:txBody>
      </p:sp>
    </p:spTree>
    <p:extLst>
      <p:ext uri="{BB962C8B-B14F-4D97-AF65-F5344CB8AC3E}">
        <p14:creationId xmlns:p14="http://schemas.microsoft.com/office/powerpoint/2010/main" val="29723006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1C7B40-1897-B426-CE04-E501DB1053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46D7ABB-B380-5C2A-CB77-D43A68FC10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B2EF3D-53DB-87FF-11F1-9352DC6710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B9181E-290A-4BD6-87E6-4D2CD43EAAA5}" type="datetimeFigureOut">
              <a:rPr lang="en-US" smtClean="0"/>
              <a:t>1/15/2026</a:t>
            </a:fld>
            <a:endParaRPr lang="en-US"/>
          </a:p>
        </p:txBody>
      </p:sp>
      <p:sp>
        <p:nvSpPr>
          <p:cNvPr id="5" name="Footer Placeholder 4">
            <a:extLst>
              <a:ext uri="{FF2B5EF4-FFF2-40B4-BE49-F238E27FC236}">
                <a16:creationId xmlns:a16="http://schemas.microsoft.com/office/drawing/2014/main" id="{DFE191C1-2846-D944-FA83-F4A0D00D06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89E866A-CCF4-C9B7-5651-1AB96CE695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99CD6-8C92-4F1C-B4F5-AAE005EDD683}" type="slidenum">
              <a:rPr lang="en-US" smtClean="0"/>
              <a:t>‹#›</a:t>
            </a:fld>
            <a:endParaRPr lang="en-US"/>
          </a:p>
        </p:txBody>
      </p:sp>
    </p:spTree>
    <p:extLst>
      <p:ext uri="{BB962C8B-B14F-4D97-AF65-F5344CB8AC3E}">
        <p14:creationId xmlns:p14="http://schemas.microsoft.com/office/powerpoint/2010/main" val="16471120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6.jp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jpg"/><Relationship Id="rId1" Type="http://schemas.openxmlformats.org/officeDocument/2006/relationships/slideLayout" Target="../slideLayouts/slideLayout7.xml"/><Relationship Id="rId4" Type="http://schemas.openxmlformats.org/officeDocument/2006/relationships/image" Target="../media/image12.gif"/></Relationships>
</file>

<file path=ppt/slides/_rels/slide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6.jp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6.jp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6.jp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6.jp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5.webp"/><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027E13-DBF6-555A-5676-0C2ABE17C331}"/>
              </a:ext>
            </a:extLst>
          </p:cNvPr>
          <p:cNvSpPr txBox="1"/>
          <p:nvPr/>
        </p:nvSpPr>
        <p:spPr>
          <a:xfrm>
            <a:off x="2414587" y="2268496"/>
            <a:ext cx="7362825" cy="1138773"/>
          </a:xfrm>
          <a:prstGeom prst="rect">
            <a:avLst/>
          </a:prstGeom>
          <a:noFill/>
        </p:spPr>
        <p:txBody>
          <a:bodyPr wrap="square" rtlCol="0">
            <a:spAutoFit/>
          </a:bodyPr>
          <a:lstStyle/>
          <a:p>
            <a:pPr algn="ctr"/>
            <a:r>
              <a:rPr lang="en-US" sz="4000" b="1" dirty="0"/>
              <a:t>MOSFET</a:t>
            </a:r>
          </a:p>
          <a:p>
            <a:pPr algn="ctr"/>
            <a:r>
              <a:rPr lang="en-US" sz="2800" dirty="0">
                <a:latin typeface="Adobe Arabic" panose="02040503050201020203" pitchFamily="18" charset="-78"/>
                <a:cs typeface="Adobe Arabic" panose="02040503050201020203" pitchFamily="18" charset="-78"/>
              </a:rPr>
              <a:t>(History, Production</a:t>
            </a:r>
            <a:r>
              <a:rPr lang="fa-IR" sz="2800" dirty="0">
                <a:latin typeface="Adobe Arabic" panose="02040503050201020203" pitchFamily="18" charset="-78"/>
                <a:cs typeface="Adobe Arabic" panose="02040503050201020203" pitchFamily="18" charset="-78"/>
              </a:rPr>
              <a:t> </a:t>
            </a:r>
            <a:r>
              <a:rPr lang="en-US" sz="2800" dirty="0">
                <a:latin typeface="Adobe Arabic" panose="02040503050201020203" pitchFamily="18" charset="-78"/>
                <a:cs typeface="Adobe Arabic" panose="02040503050201020203" pitchFamily="18" charset="-78"/>
              </a:rPr>
              <a:t>,Scaling)</a:t>
            </a:r>
            <a:endParaRPr lang="en-US" sz="3600" dirty="0">
              <a:latin typeface="Adobe Arabic" panose="02040503050201020203" pitchFamily="18" charset="-78"/>
              <a:cs typeface="Adobe Arabic" panose="02040503050201020203" pitchFamily="18" charset="-78"/>
            </a:endParaRPr>
          </a:p>
        </p:txBody>
      </p:sp>
      <p:sp>
        <p:nvSpPr>
          <p:cNvPr id="3" name="TextBox 2">
            <a:extLst>
              <a:ext uri="{FF2B5EF4-FFF2-40B4-BE49-F238E27FC236}">
                <a16:creationId xmlns:a16="http://schemas.microsoft.com/office/drawing/2014/main" id="{E0F9E206-8F42-8D2C-3D9C-958D2EB97A02}"/>
              </a:ext>
            </a:extLst>
          </p:cNvPr>
          <p:cNvSpPr txBox="1"/>
          <p:nvPr/>
        </p:nvSpPr>
        <p:spPr>
          <a:xfrm>
            <a:off x="4467225" y="3450731"/>
            <a:ext cx="1457325" cy="369332"/>
          </a:xfrm>
          <a:prstGeom prst="rect">
            <a:avLst/>
          </a:prstGeom>
          <a:noFill/>
        </p:spPr>
        <p:txBody>
          <a:bodyPr wrap="square" rtlCol="0">
            <a:spAutoFit/>
          </a:bodyPr>
          <a:lstStyle/>
          <a:p>
            <a:r>
              <a:rPr lang="en-US" dirty="0"/>
              <a:t>Mania </a:t>
            </a:r>
            <a:r>
              <a:rPr lang="en-US" dirty="0" err="1"/>
              <a:t>Tahery</a:t>
            </a:r>
            <a:endParaRPr lang="en-US" dirty="0"/>
          </a:p>
        </p:txBody>
      </p:sp>
      <p:sp>
        <p:nvSpPr>
          <p:cNvPr id="5" name="TextBox 4">
            <a:extLst>
              <a:ext uri="{FF2B5EF4-FFF2-40B4-BE49-F238E27FC236}">
                <a16:creationId xmlns:a16="http://schemas.microsoft.com/office/drawing/2014/main" id="{7A531C27-08F5-E955-4269-8C53D5F81EB5}"/>
              </a:ext>
            </a:extLst>
          </p:cNvPr>
          <p:cNvSpPr txBox="1"/>
          <p:nvPr/>
        </p:nvSpPr>
        <p:spPr>
          <a:xfrm>
            <a:off x="6267452" y="3429000"/>
            <a:ext cx="1762123" cy="369332"/>
          </a:xfrm>
          <a:prstGeom prst="rect">
            <a:avLst/>
          </a:prstGeom>
          <a:noFill/>
        </p:spPr>
        <p:txBody>
          <a:bodyPr wrap="square" rtlCol="0">
            <a:spAutoFit/>
          </a:bodyPr>
          <a:lstStyle/>
          <a:p>
            <a:r>
              <a:rPr lang="en-US" dirty="0"/>
              <a:t>Aynaz </a:t>
            </a:r>
            <a:r>
              <a:rPr lang="en-US" dirty="0" err="1"/>
              <a:t>Chabook</a:t>
            </a:r>
            <a:endParaRPr lang="en-US" dirty="0"/>
          </a:p>
        </p:txBody>
      </p:sp>
    </p:spTree>
    <p:extLst>
      <p:ext uri="{BB962C8B-B14F-4D97-AF65-F5344CB8AC3E}">
        <p14:creationId xmlns:p14="http://schemas.microsoft.com/office/powerpoint/2010/main" val="2762030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0000"/>
            <a:lum/>
          </a:blip>
          <a:srcRect/>
          <a:stretch>
            <a:fillRect t="-11000" b="-11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2EC799-5422-9F32-3552-35DD1BB4BD44}"/>
              </a:ext>
            </a:extLst>
          </p:cNvPr>
          <p:cNvSpPr txBox="1"/>
          <p:nvPr/>
        </p:nvSpPr>
        <p:spPr>
          <a:xfrm>
            <a:off x="581025" y="516725"/>
            <a:ext cx="1492898" cy="369332"/>
          </a:xfrm>
          <a:prstGeom prst="rect">
            <a:avLst/>
          </a:prstGeom>
          <a:noFill/>
        </p:spPr>
        <p:txBody>
          <a:bodyPr wrap="square" rtlCol="0">
            <a:spAutoFit/>
          </a:bodyPr>
          <a:lstStyle/>
          <a:p>
            <a:r>
              <a:rPr lang="en-US" b="1" dirty="0"/>
              <a:t>Brief History</a:t>
            </a:r>
          </a:p>
        </p:txBody>
      </p:sp>
      <p:sp>
        <p:nvSpPr>
          <p:cNvPr id="4" name="TextBox 3">
            <a:extLst>
              <a:ext uri="{FF2B5EF4-FFF2-40B4-BE49-F238E27FC236}">
                <a16:creationId xmlns:a16="http://schemas.microsoft.com/office/drawing/2014/main" id="{ECAA2131-ACB6-7DA3-F50E-C6D74E5C31AD}"/>
              </a:ext>
            </a:extLst>
          </p:cNvPr>
          <p:cNvSpPr txBox="1"/>
          <p:nvPr/>
        </p:nvSpPr>
        <p:spPr>
          <a:xfrm>
            <a:off x="581025" y="893630"/>
            <a:ext cx="5027075" cy="5078313"/>
          </a:xfrm>
          <a:prstGeom prst="rect">
            <a:avLst/>
          </a:prstGeom>
          <a:noFill/>
        </p:spPr>
        <p:txBody>
          <a:bodyPr wrap="square" rtlCol="0">
            <a:spAutoFit/>
          </a:bodyPr>
          <a:lstStyle/>
          <a:p>
            <a:r>
              <a:rPr lang="en-US" dirty="0"/>
              <a:t>1925 __ Julius Edgar Lilienfeld__ the first idea for field effect transistors __ technological limitations</a:t>
            </a:r>
          </a:p>
          <a:p>
            <a:r>
              <a:rPr lang="en-US" dirty="0"/>
              <a:t>* no proper material*</a:t>
            </a:r>
          </a:p>
          <a:p>
            <a:endParaRPr lang="en-US" dirty="0"/>
          </a:p>
          <a:p>
            <a:r>
              <a:rPr lang="en-US" dirty="0"/>
              <a:t>The idea was developed in 1930s but just the idea!</a:t>
            </a:r>
          </a:p>
          <a:p>
            <a:endParaRPr lang="en-US" dirty="0"/>
          </a:p>
          <a:p>
            <a:r>
              <a:rPr lang="en-US" dirty="0">
                <a:solidFill>
                  <a:srgbClr val="C00000"/>
                </a:solidFill>
              </a:rPr>
              <a:t>1947</a:t>
            </a:r>
            <a:r>
              <a:rPr lang="en-US" dirty="0"/>
              <a:t>__Bell Labs</a:t>
            </a:r>
            <a:r>
              <a:rPr lang="fa-IR" dirty="0"/>
              <a:t> </a:t>
            </a:r>
            <a:r>
              <a:rPr lang="en-US" dirty="0"/>
              <a:t>__</a:t>
            </a:r>
            <a:r>
              <a:rPr lang="fa-IR" dirty="0"/>
              <a:t> </a:t>
            </a:r>
            <a:r>
              <a:rPr lang="en-US" dirty="0"/>
              <a:t>Walter Brattain , </a:t>
            </a:r>
            <a:r>
              <a:rPr lang="en-US" dirty="0">
                <a:solidFill>
                  <a:srgbClr val="C00000"/>
                </a:solidFill>
              </a:rPr>
              <a:t>William Shockley </a:t>
            </a:r>
            <a:r>
              <a:rPr lang="en-US" dirty="0"/>
              <a:t>, John Bardeen __</a:t>
            </a:r>
            <a:r>
              <a:rPr lang="fa-IR" dirty="0"/>
              <a:t> </a:t>
            </a:r>
            <a:r>
              <a:rPr lang="en-US" dirty="0"/>
              <a:t> controllable current</a:t>
            </a:r>
            <a:r>
              <a:rPr lang="fa-IR" dirty="0"/>
              <a:t> </a:t>
            </a:r>
            <a:r>
              <a:rPr lang="en-US" dirty="0"/>
              <a:t>__ Semiconductors &gt; Surface defects and contaminations</a:t>
            </a:r>
          </a:p>
          <a:p>
            <a:endParaRPr lang="en-US" dirty="0"/>
          </a:p>
          <a:p>
            <a:r>
              <a:rPr lang="en-US" dirty="0"/>
              <a:t>1952__Pfann__Zone Refining Process</a:t>
            </a:r>
            <a:r>
              <a:rPr lang="fa-IR" dirty="0"/>
              <a:t> </a:t>
            </a:r>
            <a:r>
              <a:rPr lang="en-US" dirty="0"/>
              <a:t>__</a:t>
            </a:r>
            <a:r>
              <a:rPr lang="fa-IR" dirty="0"/>
              <a:t> </a:t>
            </a:r>
            <a:r>
              <a:rPr lang="en-US" dirty="0"/>
              <a:t>purity</a:t>
            </a:r>
          </a:p>
          <a:p>
            <a:endParaRPr lang="en-US" dirty="0"/>
          </a:p>
          <a:p>
            <a:r>
              <a:rPr lang="en-US" dirty="0">
                <a:solidFill>
                  <a:srgbClr val="C00000"/>
                </a:solidFill>
              </a:rPr>
              <a:t>1955</a:t>
            </a:r>
            <a:r>
              <a:rPr lang="en-US" dirty="0"/>
              <a:t>__Bell Labs</a:t>
            </a:r>
            <a:r>
              <a:rPr lang="fa-IR" dirty="0"/>
              <a:t> </a:t>
            </a:r>
            <a:r>
              <a:rPr lang="en-US" dirty="0"/>
              <a:t>__</a:t>
            </a:r>
            <a:r>
              <a:rPr lang="fa-IR" dirty="0"/>
              <a:t> </a:t>
            </a:r>
            <a:r>
              <a:rPr lang="en-US" dirty="0"/>
              <a:t>Carl Frosch , Lincoln Derick</a:t>
            </a:r>
            <a:r>
              <a:rPr lang="fa-IR" dirty="0"/>
              <a:t> </a:t>
            </a:r>
            <a:r>
              <a:rPr lang="en-US" dirty="0"/>
              <a:t>__</a:t>
            </a:r>
            <a:r>
              <a:rPr lang="fa-IR" dirty="0"/>
              <a:t> </a:t>
            </a:r>
            <a:r>
              <a:rPr lang="en-US" dirty="0"/>
              <a:t>Silicon + heat =&gt; </a:t>
            </a:r>
            <a:r>
              <a:rPr lang="en-US" dirty="0">
                <a:solidFill>
                  <a:srgbClr val="C00000"/>
                </a:solidFill>
              </a:rPr>
              <a:t>Oxide Layer</a:t>
            </a:r>
          </a:p>
          <a:p>
            <a:endParaRPr lang="en-US" dirty="0">
              <a:solidFill>
                <a:srgbClr val="C00000"/>
              </a:solidFill>
            </a:endParaRPr>
          </a:p>
          <a:p>
            <a:r>
              <a:rPr lang="en-US" dirty="0">
                <a:solidFill>
                  <a:srgbClr val="C00000"/>
                </a:solidFill>
              </a:rPr>
              <a:t>1959</a:t>
            </a:r>
            <a:r>
              <a:rPr lang="en-US" dirty="0"/>
              <a:t>__Bell Labs</a:t>
            </a:r>
            <a:r>
              <a:rPr lang="fa-IR" dirty="0"/>
              <a:t> </a:t>
            </a:r>
            <a:r>
              <a:rPr lang="en-US" dirty="0"/>
              <a:t>__Mohammad Atalla , Dawon Kahng</a:t>
            </a:r>
            <a:endParaRPr lang="en-US" dirty="0">
              <a:solidFill>
                <a:srgbClr val="C00000"/>
              </a:solidFill>
            </a:endParaRPr>
          </a:p>
        </p:txBody>
      </p:sp>
      <p:sp>
        <p:nvSpPr>
          <p:cNvPr id="9" name="AutoShape 4" descr="ساختار ترانزیستور">
            <a:extLst>
              <a:ext uri="{FF2B5EF4-FFF2-40B4-BE49-F238E27FC236}">
                <a16:creationId xmlns:a16="http://schemas.microsoft.com/office/drawing/2014/main" id="{0B154F82-FEC9-94DB-8764-F7D903570D0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1" name="Picture 20">
            <a:extLst>
              <a:ext uri="{FF2B5EF4-FFF2-40B4-BE49-F238E27FC236}">
                <a16:creationId xmlns:a16="http://schemas.microsoft.com/office/drawing/2014/main" id="{6D21445B-179A-9405-90F3-4C6BC0E9B10A}"/>
              </a:ext>
            </a:extLst>
          </p:cNvPr>
          <p:cNvPicPr>
            <a:picLocks noChangeAspect="1"/>
          </p:cNvPicPr>
          <p:nvPr/>
        </p:nvPicPr>
        <p:blipFill>
          <a:blip r:embed="rId3"/>
          <a:stretch>
            <a:fillRect/>
          </a:stretch>
        </p:blipFill>
        <p:spPr>
          <a:xfrm>
            <a:off x="6248399" y="3123521"/>
            <a:ext cx="5027075" cy="2922033"/>
          </a:xfrm>
          <a:prstGeom prst="rect">
            <a:avLst/>
          </a:prstGeom>
        </p:spPr>
      </p:pic>
      <p:pic>
        <p:nvPicPr>
          <p:cNvPr id="23" name="Picture 22">
            <a:extLst>
              <a:ext uri="{FF2B5EF4-FFF2-40B4-BE49-F238E27FC236}">
                <a16:creationId xmlns:a16="http://schemas.microsoft.com/office/drawing/2014/main" id="{4D8F847F-6A74-F753-C452-741698A71BC7}"/>
              </a:ext>
            </a:extLst>
          </p:cNvPr>
          <p:cNvPicPr>
            <a:picLocks noChangeAspect="1"/>
          </p:cNvPicPr>
          <p:nvPr/>
        </p:nvPicPr>
        <p:blipFill>
          <a:blip r:embed="rId4"/>
          <a:stretch>
            <a:fillRect/>
          </a:stretch>
        </p:blipFill>
        <p:spPr>
          <a:xfrm>
            <a:off x="6016075" y="708964"/>
            <a:ext cx="2524662" cy="2180958"/>
          </a:xfrm>
          <a:prstGeom prst="rect">
            <a:avLst/>
          </a:prstGeom>
        </p:spPr>
      </p:pic>
      <p:pic>
        <p:nvPicPr>
          <p:cNvPr id="24" name="Picture 23">
            <a:extLst>
              <a:ext uri="{FF2B5EF4-FFF2-40B4-BE49-F238E27FC236}">
                <a16:creationId xmlns:a16="http://schemas.microsoft.com/office/drawing/2014/main" id="{A4C6BED6-5F3B-0A36-70E3-13108636F63C}"/>
              </a:ext>
            </a:extLst>
          </p:cNvPr>
          <p:cNvPicPr>
            <a:picLocks noChangeAspect="1"/>
          </p:cNvPicPr>
          <p:nvPr/>
        </p:nvPicPr>
        <p:blipFill>
          <a:blip r:embed="rId5"/>
          <a:stretch>
            <a:fillRect/>
          </a:stretch>
        </p:blipFill>
        <p:spPr>
          <a:xfrm>
            <a:off x="8761937" y="708964"/>
            <a:ext cx="2734738" cy="2177910"/>
          </a:xfrm>
          <a:prstGeom prst="rect">
            <a:avLst/>
          </a:prstGeom>
        </p:spPr>
      </p:pic>
    </p:spTree>
    <p:extLst>
      <p:ext uri="{BB962C8B-B14F-4D97-AF65-F5344CB8AC3E}">
        <p14:creationId xmlns:p14="http://schemas.microsoft.com/office/powerpoint/2010/main" val="2062047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4310F386-2CC8-7E05-95CE-D32BF228DCF5}"/>
              </a:ext>
            </a:extLst>
          </p:cNvPr>
          <p:cNvGraphicFramePr/>
          <p:nvPr>
            <p:extLst>
              <p:ext uri="{D42A27DB-BD31-4B8C-83A1-F6EECF244321}">
                <p14:modId xmlns:p14="http://schemas.microsoft.com/office/powerpoint/2010/main" val="178904354"/>
              </p:ext>
            </p:extLst>
          </p:nvPr>
        </p:nvGraphicFramePr>
        <p:xfrm>
          <a:off x="2470150" y="1438274"/>
          <a:ext cx="6283325" cy="38311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0E0540C7-EFA6-F93E-8374-AEFBF06EA24D}"/>
              </a:ext>
            </a:extLst>
          </p:cNvPr>
          <p:cNvSpPr txBox="1"/>
          <p:nvPr/>
        </p:nvSpPr>
        <p:spPr>
          <a:xfrm>
            <a:off x="3616324" y="1022776"/>
            <a:ext cx="4238625" cy="830997"/>
          </a:xfrm>
          <a:prstGeom prst="rect">
            <a:avLst/>
          </a:prstGeom>
          <a:noFill/>
        </p:spPr>
        <p:txBody>
          <a:bodyPr wrap="square" rtlCol="0">
            <a:spAutoFit/>
          </a:bodyPr>
          <a:lstStyle/>
          <a:p>
            <a:pPr algn="ctr"/>
            <a:r>
              <a:rPr lang="en-US" sz="4800" dirty="0"/>
              <a:t>Transistors</a:t>
            </a:r>
          </a:p>
        </p:txBody>
      </p:sp>
    </p:spTree>
    <p:extLst>
      <p:ext uri="{BB962C8B-B14F-4D97-AF65-F5344CB8AC3E}">
        <p14:creationId xmlns:p14="http://schemas.microsoft.com/office/powerpoint/2010/main" val="1676618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7000"/>
            <a:lum/>
          </a:blip>
          <a:srcRect/>
          <a:stretch>
            <a:fillRect l="-1000" r="-1000"/>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F10220-D5EE-3408-A8FE-D01F1E94E8F2}"/>
              </a:ext>
            </a:extLst>
          </p:cNvPr>
          <p:cNvSpPr txBox="1"/>
          <p:nvPr/>
        </p:nvSpPr>
        <p:spPr>
          <a:xfrm>
            <a:off x="664546" y="1974495"/>
            <a:ext cx="5204441" cy="2585323"/>
          </a:xfrm>
          <a:prstGeom prst="rect">
            <a:avLst/>
          </a:prstGeom>
          <a:noFill/>
        </p:spPr>
        <p:txBody>
          <a:bodyPr wrap="square">
            <a:spAutoFit/>
          </a:bodyPr>
          <a:lstStyle/>
          <a:p>
            <a:r>
              <a:rPr lang="en-US" b="1" dirty="0"/>
              <a:t>FET</a:t>
            </a:r>
          </a:p>
          <a:p>
            <a:r>
              <a:rPr lang="en-US" dirty="0"/>
              <a:t>The field-effect transistor (FET) is a type of transistor that uses an electric field to control the current through a semiconductor. It comes in two types: junction FET (JFET) and metal–oxide–semiconductor FET (MOSFET). FETs have three terminals: source, gate, and drain. FETs control the current by the application of a voltage to the gate, which in turn alters the conductivity between the drain and source</a:t>
            </a:r>
          </a:p>
        </p:txBody>
      </p:sp>
      <p:pic>
        <p:nvPicPr>
          <p:cNvPr id="5" name="Picture 4">
            <a:extLst>
              <a:ext uri="{FF2B5EF4-FFF2-40B4-BE49-F238E27FC236}">
                <a16:creationId xmlns:a16="http://schemas.microsoft.com/office/drawing/2014/main" id="{9838AB1F-858D-8E7E-8027-5759EA0B6F78}"/>
              </a:ext>
            </a:extLst>
          </p:cNvPr>
          <p:cNvPicPr>
            <a:picLocks noChangeAspect="1"/>
          </p:cNvPicPr>
          <p:nvPr/>
        </p:nvPicPr>
        <p:blipFill>
          <a:blip r:embed="rId3"/>
          <a:stretch>
            <a:fillRect/>
          </a:stretch>
        </p:blipFill>
        <p:spPr>
          <a:xfrm>
            <a:off x="6553202" y="1114425"/>
            <a:ext cx="4305465" cy="4305465"/>
          </a:xfrm>
          <a:prstGeom prst="rect">
            <a:avLst/>
          </a:prstGeom>
        </p:spPr>
      </p:pic>
    </p:spTree>
    <p:extLst>
      <p:ext uri="{BB962C8B-B14F-4D97-AF65-F5344CB8AC3E}">
        <p14:creationId xmlns:p14="http://schemas.microsoft.com/office/powerpoint/2010/main" val="1576583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9000"/>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D419D5-5273-1A2C-6ADC-6840D2029CB7}"/>
              </a:ext>
            </a:extLst>
          </p:cNvPr>
          <p:cNvSpPr txBox="1"/>
          <p:nvPr/>
        </p:nvSpPr>
        <p:spPr>
          <a:xfrm>
            <a:off x="1791087" y="1078571"/>
            <a:ext cx="8293943" cy="1200329"/>
          </a:xfrm>
          <a:prstGeom prst="rect">
            <a:avLst/>
          </a:prstGeom>
          <a:noFill/>
        </p:spPr>
        <p:txBody>
          <a:bodyPr wrap="square">
            <a:spAutoFit/>
          </a:bodyPr>
          <a:lstStyle/>
          <a:p>
            <a:pPr algn="ctr">
              <a:buNone/>
            </a:pPr>
            <a:r>
              <a:rPr lang="fr-FR" b="1" dirty="0">
                <a:effectLst/>
              </a:rPr>
              <a:t>MOSFET vs BJT (concept </a:t>
            </a:r>
            <a:r>
              <a:rPr lang="fr-FR" b="1" dirty="0" err="1">
                <a:effectLst/>
              </a:rPr>
              <a:t>comparison</a:t>
            </a:r>
            <a:r>
              <a:rPr lang="fr-FR" b="1" dirty="0">
                <a:effectLst/>
              </a:rPr>
              <a:t>)</a:t>
            </a:r>
            <a:br>
              <a:rPr lang="fr-FR" b="1" dirty="0">
                <a:effectLst/>
              </a:rPr>
            </a:br>
            <a:endParaRPr lang="fr-FR" b="1" dirty="0">
              <a:effectLst/>
            </a:endParaRPr>
          </a:p>
          <a:p>
            <a:pPr algn="ctr">
              <a:buNone/>
            </a:pPr>
            <a:r>
              <a:rPr lang="en-US" dirty="0"/>
              <a:t>in a BJT, output current is controlled by a </a:t>
            </a:r>
            <a:r>
              <a:rPr lang="en-US" b="1" dirty="0"/>
              <a:t>base current </a:t>
            </a:r>
            <a:r>
              <a:rPr lang="en-US" dirty="0"/>
              <a:t>(a current-driven control). In a MOSFET, output current is controlled mainly by a </a:t>
            </a:r>
            <a:r>
              <a:rPr lang="en-US" b="1" dirty="0"/>
              <a:t>gate voltage </a:t>
            </a:r>
            <a:r>
              <a:rPr lang="en-US" dirty="0"/>
              <a:t>(a field-driven control). </a:t>
            </a:r>
          </a:p>
        </p:txBody>
      </p:sp>
      <p:pic>
        <p:nvPicPr>
          <p:cNvPr id="2" name="Picture 1">
            <a:extLst>
              <a:ext uri="{FF2B5EF4-FFF2-40B4-BE49-F238E27FC236}">
                <a16:creationId xmlns:a16="http://schemas.microsoft.com/office/drawing/2014/main" id="{74424050-26B9-00E1-7BB8-718BA782265B}"/>
              </a:ext>
            </a:extLst>
          </p:cNvPr>
          <p:cNvPicPr>
            <a:picLocks noChangeAspect="1"/>
          </p:cNvPicPr>
          <p:nvPr/>
        </p:nvPicPr>
        <p:blipFill>
          <a:blip r:embed="rId3"/>
          <a:stretch>
            <a:fillRect/>
          </a:stretch>
        </p:blipFill>
        <p:spPr>
          <a:xfrm rot="5400000">
            <a:off x="2359029" y="2150069"/>
            <a:ext cx="2752724" cy="3888607"/>
          </a:xfrm>
          <a:prstGeom prst="rect">
            <a:avLst/>
          </a:prstGeom>
        </p:spPr>
      </p:pic>
      <p:pic>
        <p:nvPicPr>
          <p:cNvPr id="5" name="Picture 4">
            <a:extLst>
              <a:ext uri="{FF2B5EF4-FFF2-40B4-BE49-F238E27FC236}">
                <a16:creationId xmlns:a16="http://schemas.microsoft.com/office/drawing/2014/main" id="{697C8019-D047-E369-8C67-C3BD0BFFCBD1}"/>
              </a:ext>
            </a:extLst>
          </p:cNvPr>
          <p:cNvPicPr>
            <a:picLocks noChangeAspect="1"/>
          </p:cNvPicPr>
          <p:nvPr/>
        </p:nvPicPr>
        <p:blipFill>
          <a:blip r:embed="rId4"/>
          <a:stretch>
            <a:fillRect/>
          </a:stretch>
        </p:blipFill>
        <p:spPr>
          <a:xfrm>
            <a:off x="6331332" y="2718010"/>
            <a:ext cx="4304219" cy="2706441"/>
          </a:xfrm>
          <a:prstGeom prst="rect">
            <a:avLst/>
          </a:prstGeom>
        </p:spPr>
      </p:pic>
    </p:spTree>
    <p:extLst>
      <p:ext uri="{BB962C8B-B14F-4D97-AF65-F5344CB8AC3E}">
        <p14:creationId xmlns:p14="http://schemas.microsoft.com/office/powerpoint/2010/main" val="2624464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29378">
              <a:schemeClr val="bg1">
                <a:lumMod val="95000"/>
              </a:schemeClr>
            </a:gs>
            <a:gs pos="0">
              <a:schemeClr val="bg1">
                <a:lumMod val="85000"/>
              </a:schemeClr>
            </a:gs>
            <a:gs pos="74000">
              <a:schemeClr val="bg1">
                <a:lumMod val="95000"/>
              </a:schemeClr>
            </a:gs>
            <a:gs pos="83000">
              <a:schemeClr val="bg1"/>
            </a:gs>
            <a:gs pos="100000">
              <a:schemeClr val="bg1">
                <a:lumMod val="75000"/>
              </a:schemeClr>
            </a:gs>
          </a:gsLst>
          <a:lin ang="5400000" scaled="1"/>
        </a:gra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172530-B3E9-1821-A4FD-B6AB95299DF0}"/>
              </a:ext>
            </a:extLst>
          </p:cNvPr>
          <p:cNvPicPr>
            <a:picLocks noChangeAspect="1"/>
          </p:cNvPicPr>
          <p:nvPr/>
        </p:nvPicPr>
        <p:blipFill>
          <a:blip r:embed="rId2"/>
          <a:stretch>
            <a:fillRect/>
          </a:stretch>
        </p:blipFill>
        <p:spPr>
          <a:xfrm>
            <a:off x="4847619" y="1200623"/>
            <a:ext cx="6229956" cy="3686834"/>
          </a:xfrm>
          <a:prstGeom prst="rect">
            <a:avLst/>
          </a:prstGeom>
        </p:spPr>
      </p:pic>
      <p:sp>
        <p:nvSpPr>
          <p:cNvPr id="5" name="TextBox 4">
            <a:extLst>
              <a:ext uri="{FF2B5EF4-FFF2-40B4-BE49-F238E27FC236}">
                <a16:creationId xmlns:a16="http://schemas.microsoft.com/office/drawing/2014/main" id="{CAFF42B9-E7F6-516C-070A-79B07E479552}"/>
              </a:ext>
            </a:extLst>
          </p:cNvPr>
          <p:cNvSpPr txBox="1"/>
          <p:nvPr/>
        </p:nvSpPr>
        <p:spPr>
          <a:xfrm>
            <a:off x="942974" y="1200623"/>
            <a:ext cx="3457575" cy="3693319"/>
          </a:xfrm>
          <a:prstGeom prst="rect">
            <a:avLst/>
          </a:prstGeom>
          <a:noFill/>
        </p:spPr>
        <p:txBody>
          <a:bodyPr wrap="square">
            <a:spAutoFit/>
          </a:bodyPr>
          <a:lstStyle/>
          <a:p>
            <a:r>
              <a:rPr lang="fa-IR" b="0" i="0" dirty="0">
                <a:solidFill>
                  <a:srgbClr val="000000"/>
                </a:solidFill>
                <a:effectLst/>
                <a:latin typeface="Roboto" panose="02000000000000000000" pitchFamily="2" charset="0"/>
              </a:rPr>
              <a:t> </a:t>
            </a:r>
            <a:r>
              <a:rPr lang="en-US" b="0" i="0" dirty="0">
                <a:solidFill>
                  <a:srgbClr val="000000"/>
                </a:solidFill>
                <a:effectLst/>
                <a:latin typeface="Roboto" panose="02000000000000000000" pitchFamily="2" charset="0"/>
              </a:rPr>
              <a:t>MOSFET</a:t>
            </a:r>
            <a:endParaRPr lang="en-US" dirty="0">
              <a:solidFill>
                <a:srgbClr val="000000"/>
              </a:solidFill>
              <a:latin typeface="Roboto" panose="02000000000000000000" pitchFamily="2" charset="0"/>
            </a:endParaRPr>
          </a:p>
          <a:p>
            <a:r>
              <a:rPr lang="fa-IR" dirty="0"/>
              <a:t> </a:t>
            </a:r>
            <a:r>
              <a:rPr lang="en-US" dirty="0"/>
              <a:t>(Metal Oxide Semiconductor Field Effect Transistor)</a:t>
            </a:r>
          </a:p>
          <a:p>
            <a:r>
              <a:rPr lang="fa-IR" b="0" i="0" dirty="0">
                <a:solidFill>
                  <a:srgbClr val="000000"/>
                </a:solidFill>
                <a:effectLst/>
                <a:latin typeface="Roboto" panose="02000000000000000000" pitchFamily="2" charset="0"/>
              </a:rPr>
              <a:t> </a:t>
            </a:r>
            <a:r>
              <a:rPr lang="en-US" b="0" i="0" dirty="0">
                <a:solidFill>
                  <a:srgbClr val="000000"/>
                </a:solidFill>
                <a:effectLst/>
                <a:latin typeface="Roboto" panose="02000000000000000000" pitchFamily="2" charset="0"/>
              </a:rPr>
              <a:t>is one of the most important building blocks of modern electronics. It powers </a:t>
            </a:r>
            <a:r>
              <a:rPr lang="fa-IR" b="0" i="0" dirty="0">
                <a:solidFill>
                  <a:srgbClr val="000000"/>
                </a:solidFill>
                <a:effectLst/>
                <a:latin typeface="Roboto" panose="02000000000000000000" pitchFamily="2" charset="0"/>
              </a:rPr>
              <a:t>    </a:t>
            </a:r>
            <a:r>
              <a:rPr lang="en-US" b="0" i="0" dirty="0">
                <a:solidFill>
                  <a:srgbClr val="000000"/>
                </a:solidFill>
                <a:effectLst/>
                <a:latin typeface="Roboto" panose="02000000000000000000" pitchFamily="2" charset="0"/>
              </a:rPr>
              <a:t>everything from microprocessors (CMOS) to power converters and motor drivers. </a:t>
            </a:r>
          </a:p>
          <a:p>
            <a:r>
              <a:rPr lang="fa-IR" b="0" i="0" dirty="0">
                <a:solidFill>
                  <a:srgbClr val="000000"/>
                </a:solidFill>
                <a:effectLst/>
                <a:latin typeface="Roboto" panose="02000000000000000000" pitchFamily="2" charset="0"/>
              </a:rPr>
              <a:t> </a:t>
            </a:r>
            <a:r>
              <a:rPr lang="en-US" b="0" i="0" dirty="0">
                <a:solidFill>
                  <a:srgbClr val="000000"/>
                </a:solidFill>
                <a:effectLst/>
                <a:latin typeface="Roboto" panose="02000000000000000000" pitchFamily="2" charset="0"/>
              </a:rPr>
              <a:t>In this talk, we explain MOSFET operation using simple physical intuition.</a:t>
            </a:r>
            <a:endParaRPr lang="fa-IR" b="0" i="0" dirty="0">
              <a:solidFill>
                <a:srgbClr val="000000"/>
              </a:solidFill>
              <a:effectLst/>
              <a:latin typeface="Roboto" panose="02000000000000000000" pitchFamily="2" charset="0"/>
            </a:endParaRPr>
          </a:p>
        </p:txBody>
      </p:sp>
    </p:spTree>
    <p:extLst>
      <p:ext uri="{BB962C8B-B14F-4D97-AF65-F5344CB8AC3E}">
        <p14:creationId xmlns:p14="http://schemas.microsoft.com/office/powerpoint/2010/main" val="2247164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8000"/>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24F698-FBFB-AB3C-ECF8-4EC7D5132945}"/>
              </a:ext>
            </a:extLst>
          </p:cNvPr>
          <p:cNvSpPr txBox="1"/>
          <p:nvPr/>
        </p:nvSpPr>
        <p:spPr>
          <a:xfrm>
            <a:off x="831006" y="976363"/>
            <a:ext cx="4898571" cy="1754326"/>
          </a:xfrm>
          <a:prstGeom prst="rect">
            <a:avLst/>
          </a:prstGeom>
          <a:noFill/>
        </p:spPr>
        <p:txBody>
          <a:bodyPr wrap="square" rtlCol="0">
            <a:spAutoFit/>
          </a:bodyPr>
          <a:lstStyle/>
          <a:p>
            <a:r>
              <a:rPr lang="en-US" dirty="0"/>
              <a:t>Think of MOSFET as a smart valve: Gate is the handle, Source/Drain are the two ends of the pipe, and the channel is the path that appears only when the Gate voltage is high enough, The Gate is separated from silicon by thin oxide (insulator), so the control is mainly electrostatic.</a:t>
            </a:r>
          </a:p>
        </p:txBody>
      </p:sp>
      <p:pic>
        <p:nvPicPr>
          <p:cNvPr id="4" name="Picture 3">
            <a:extLst>
              <a:ext uri="{FF2B5EF4-FFF2-40B4-BE49-F238E27FC236}">
                <a16:creationId xmlns:a16="http://schemas.microsoft.com/office/drawing/2014/main" id="{B6241C21-A6C7-BC60-7D83-6FF605B6EB13}"/>
              </a:ext>
            </a:extLst>
          </p:cNvPr>
          <p:cNvPicPr>
            <a:picLocks noChangeAspect="1"/>
          </p:cNvPicPr>
          <p:nvPr/>
        </p:nvPicPr>
        <p:blipFill>
          <a:blip r:embed="rId3">
            <a:extLst>
              <a:ext uri="{28A0092B-C50C-407E-A947-70E740481C1C}">
                <a14:useLocalDpi xmlns:a14="http://schemas.microsoft.com/office/drawing/2010/main" val="0"/>
              </a:ext>
            </a:extLst>
          </a:blip>
          <a:srcRect t="9881" r="5863" b="6953"/>
          <a:stretch>
            <a:fillRect/>
          </a:stretch>
        </p:blipFill>
        <p:spPr>
          <a:xfrm>
            <a:off x="6096000" y="976363"/>
            <a:ext cx="5360244" cy="3452762"/>
          </a:xfrm>
          <a:prstGeom prst="rect">
            <a:avLst/>
          </a:prstGeom>
        </p:spPr>
      </p:pic>
      <p:pic>
        <p:nvPicPr>
          <p:cNvPr id="7" name="Picture 6">
            <a:extLst>
              <a:ext uri="{FF2B5EF4-FFF2-40B4-BE49-F238E27FC236}">
                <a16:creationId xmlns:a16="http://schemas.microsoft.com/office/drawing/2014/main" id="{4E408C4A-9E1E-DF0E-235F-8DF24C0741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7926" y="3008174"/>
            <a:ext cx="3944032" cy="1624013"/>
          </a:xfrm>
          <a:prstGeom prst="rect">
            <a:avLst/>
          </a:prstGeom>
        </p:spPr>
      </p:pic>
    </p:spTree>
    <p:extLst>
      <p:ext uri="{BB962C8B-B14F-4D97-AF65-F5344CB8AC3E}">
        <p14:creationId xmlns:p14="http://schemas.microsoft.com/office/powerpoint/2010/main" val="2484567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7F8A58-83BE-78E7-6943-4E88098D5248}"/>
              </a:ext>
            </a:extLst>
          </p:cNvPr>
          <p:cNvSpPr txBox="1"/>
          <p:nvPr/>
        </p:nvSpPr>
        <p:spPr>
          <a:xfrm>
            <a:off x="5272087" y="3167390"/>
            <a:ext cx="1647825" cy="523220"/>
          </a:xfrm>
          <a:prstGeom prst="rect">
            <a:avLst/>
          </a:prstGeom>
          <a:noFill/>
        </p:spPr>
        <p:txBody>
          <a:bodyPr wrap="square" rtlCol="0">
            <a:spAutoFit/>
          </a:bodyPr>
          <a:lstStyle/>
          <a:p>
            <a:r>
              <a:rPr lang="en-US" sz="2800" b="1" dirty="0"/>
              <a:t>Anatomy</a:t>
            </a:r>
          </a:p>
        </p:txBody>
      </p:sp>
    </p:spTree>
    <p:extLst>
      <p:ext uri="{BB962C8B-B14F-4D97-AF65-F5344CB8AC3E}">
        <p14:creationId xmlns:p14="http://schemas.microsoft.com/office/powerpoint/2010/main" val="1706625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9000"/>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AC801B-B396-1DBA-8AEB-DF1DF6E311AC}"/>
              </a:ext>
            </a:extLst>
          </p:cNvPr>
          <p:cNvSpPr txBox="1"/>
          <p:nvPr/>
        </p:nvSpPr>
        <p:spPr>
          <a:xfrm>
            <a:off x="2695574" y="653178"/>
            <a:ext cx="6477001" cy="1200329"/>
          </a:xfrm>
          <a:prstGeom prst="rect">
            <a:avLst/>
          </a:prstGeom>
          <a:noFill/>
        </p:spPr>
        <p:txBody>
          <a:bodyPr wrap="square">
            <a:spAutoFit/>
          </a:bodyPr>
          <a:lstStyle/>
          <a:p>
            <a:pPr algn="ctr">
              <a:buNone/>
            </a:pPr>
            <a:r>
              <a:rPr lang="en-US" b="1" dirty="0">
                <a:effectLst/>
              </a:rPr>
              <a:t>MOS capacitor: the heart of MOSFET</a:t>
            </a:r>
            <a:br>
              <a:rPr lang="en-US" b="1" dirty="0">
                <a:effectLst/>
              </a:rPr>
            </a:br>
            <a:r>
              <a:rPr lang="en-US" dirty="0"/>
              <a:t>The Gate-Oxide-Silicon stack behaves like a </a:t>
            </a:r>
            <a:r>
              <a:rPr lang="en-US" i="1" dirty="0"/>
              <a:t>capacitor</a:t>
            </a:r>
            <a:r>
              <a:rPr lang="en-US" dirty="0"/>
              <a:t>. Applying gate voltage creates an electric field that controls surface charge. MOSFET is essentially: MOS capacitor + two contacts (source, drain)</a:t>
            </a:r>
            <a:endParaRPr lang="en-US" b="1" dirty="0">
              <a:effectLst/>
            </a:endParaRPr>
          </a:p>
        </p:txBody>
      </p:sp>
      <p:pic>
        <p:nvPicPr>
          <p:cNvPr id="4" name="Picture 3">
            <a:extLst>
              <a:ext uri="{FF2B5EF4-FFF2-40B4-BE49-F238E27FC236}">
                <a16:creationId xmlns:a16="http://schemas.microsoft.com/office/drawing/2014/main" id="{47225FE7-4495-8896-FAEA-283468D0EF3D}"/>
              </a:ext>
            </a:extLst>
          </p:cNvPr>
          <p:cNvPicPr>
            <a:picLocks noChangeAspect="1"/>
          </p:cNvPicPr>
          <p:nvPr/>
        </p:nvPicPr>
        <p:blipFill>
          <a:blip r:embed="rId3"/>
          <a:srcRect l="-289" t="11363" r="289" b="-6029"/>
          <a:stretch>
            <a:fillRect/>
          </a:stretch>
        </p:blipFill>
        <p:spPr>
          <a:xfrm>
            <a:off x="2478110" y="2096454"/>
            <a:ext cx="6589690" cy="3365328"/>
          </a:xfrm>
          <a:prstGeom prst="rect">
            <a:avLst/>
          </a:prstGeom>
        </p:spPr>
      </p:pic>
    </p:spTree>
    <p:extLst>
      <p:ext uri="{BB962C8B-B14F-4D97-AF65-F5344CB8AC3E}">
        <p14:creationId xmlns:p14="http://schemas.microsoft.com/office/powerpoint/2010/main" val="1700002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3000"/>
            <a:lum/>
          </a:blip>
          <a:srcRect/>
          <a:stretch>
            <a:fillRect t="-13000" b="-13000"/>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302DEE8-306F-1BF8-260D-E684BA75EB9E}"/>
              </a:ext>
            </a:extLst>
          </p:cNvPr>
          <p:cNvSpPr txBox="1"/>
          <p:nvPr/>
        </p:nvSpPr>
        <p:spPr>
          <a:xfrm>
            <a:off x="691515" y="824230"/>
            <a:ext cx="6096000" cy="5035353"/>
          </a:xfrm>
          <a:prstGeom prst="rect">
            <a:avLst/>
          </a:prstGeom>
          <a:noFill/>
        </p:spPr>
        <p:txBody>
          <a:bodyPr wrap="square">
            <a:spAutoFit/>
          </a:bodyPr>
          <a:lstStyle/>
          <a:p>
            <a:pPr>
              <a:lnSpc>
                <a:spcPct val="150000"/>
              </a:lnSpc>
            </a:pPr>
            <a:r>
              <a:rPr lang="en-US" b="1" dirty="0"/>
              <a:t>Gate</a:t>
            </a:r>
            <a:r>
              <a:rPr lang="en-US" dirty="0"/>
              <a:t> — </a:t>
            </a:r>
            <a:r>
              <a:rPr lang="en-US" b="1" dirty="0"/>
              <a:t>The Field Controller</a:t>
            </a:r>
            <a:endParaRPr lang="en-US" dirty="0"/>
          </a:p>
          <a:p>
            <a:pPr>
              <a:lnSpc>
                <a:spcPct val="150000"/>
              </a:lnSpc>
            </a:pPr>
            <a:r>
              <a:rPr lang="en-US" dirty="0"/>
              <a:t>The Gate is a conductive electrode (metal gate in modern technologies, polysilicon in older ones) placed above the channel region.</a:t>
            </a:r>
            <a:br>
              <a:rPr lang="en-US" dirty="0"/>
            </a:br>
            <a:r>
              <a:rPr lang="en-US" dirty="0"/>
              <a:t> </a:t>
            </a:r>
            <a:r>
              <a:rPr lang="en-US" b="1" dirty="0"/>
              <a:t>Gate Oxide / Gate Dielectric — The Enabler</a:t>
            </a:r>
            <a:endParaRPr lang="en-US" dirty="0"/>
          </a:p>
          <a:p>
            <a:pPr>
              <a:lnSpc>
                <a:spcPct val="150000"/>
              </a:lnSpc>
            </a:pPr>
            <a:r>
              <a:rPr lang="en-US" dirty="0"/>
              <a:t>A very thin insulating layer between the gate and the semiconductor</a:t>
            </a:r>
          </a:p>
          <a:p>
            <a:pPr>
              <a:lnSpc>
                <a:spcPct val="150000"/>
              </a:lnSpc>
            </a:pPr>
            <a:r>
              <a:rPr lang="en-US" dirty="0"/>
              <a:t>(</a:t>
            </a:r>
            <a:r>
              <a:rPr lang="en-US" dirty="0" err="1"/>
              <a:t>SiO</a:t>
            </a:r>
            <a:r>
              <a:rPr lang="en-US" dirty="0"/>
              <a:t>₂ historically, high-k dielectrics like </a:t>
            </a:r>
            <a:r>
              <a:rPr lang="en-US" dirty="0" err="1"/>
              <a:t>HfO</a:t>
            </a:r>
            <a:r>
              <a:rPr lang="en-US" dirty="0"/>
              <a:t>₂ today).</a:t>
            </a:r>
          </a:p>
          <a:p>
            <a:pPr>
              <a:lnSpc>
                <a:spcPct val="150000"/>
              </a:lnSpc>
            </a:pPr>
            <a:r>
              <a:rPr lang="en-US" b="1" dirty="0">
                <a:solidFill>
                  <a:srgbClr val="222222"/>
                </a:solidFill>
                <a:latin typeface="system-ui"/>
              </a:rPr>
              <a:t>Channel Region — The Induced Conductor</a:t>
            </a:r>
          </a:p>
          <a:p>
            <a:pPr>
              <a:lnSpc>
                <a:spcPct val="150000"/>
              </a:lnSpc>
            </a:pPr>
            <a:r>
              <a:rPr lang="en-US" dirty="0">
                <a:solidFill>
                  <a:srgbClr val="222222"/>
                </a:solidFill>
                <a:latin typeface="system-ui"/>
              </a:rPr>
              <a:t>The region under the gate between source and drain where conduction occurs </a:t>
            </a:r>
            <a:r>
              <a:rPr lang="en-US" b="1" dirty="0">
                <a:solidFill>
                  <a:srgbClr val="222222"/>
                </a:solidFill>
                <a:latin typeface="system-ui"/>
              </a:rPr>
              <a:t>only when induced</a:t>
            </a:r>
            <a:r>
              <a:rPr lang="en-US" dirty="0">
                <a:solidFill>
                  <a:srgbClr val="222222"/>
                </a:solidFill>
                <a:latin typeface="system-ui"/>
              </a:rPr>
              <a:t>.</a:t>
            </a:r>
          </a:p>
          <a:p>
            <a:pPr>
              <a:lnSpc>
                <a:spcPct val="150000"/>
              </a:lnSpc>
            </a:pPr>
            <a:endParaRPr lang="en-US" dirty="0"/>
          </a:p>
        </p:txBody>
      </p:sp>
      <p:sp>
        <p:nvSpPr>
          <p:cNvPr id="10" name="TextBox 9">
            <a:extLst>
              <a:ext uri="{FF2B5EF4-FFF2-40B4-BE49-F238E27FC236}">
                <a16:creationId xmlns:a16="http://schemas.microsoft.com/office/drawing/2014/main" id="{960986AA-19EC-8A10-6C9E-557203323810}"/>
              </a:ext>
            </a:extLst>
          </p:cNvPr>
          <p:cNvSpPr txBox="1"/>
          <p:nvPr/>
        </p:nvSpPr>
        <p:spPr>
          <a:xfrm>
            <a:off x="6562725" y="824230"/>
            <a:ext cx="4838700" cy="6047809"/>
          </a:xfrm>
          <a:prstGeom prst="rect">
            <a:avLst/>
          </a:prstGeom>
          <a:noFill/>
        </p:spPr>
        <p:txBody>
          <a:bodyPr wrap="square">
            <a:spAutoFit/>
          </a:bodyPr>
          <a:lstStyle/>
          <a:p>
            <a:pPr algn="l">
              <a:lnSpc>
                <a:spcPct val="150000"/>
              </a:lnSpc>
              <a:buNone/>
            </a:pPr>
            <a:r>
              <a:rPr lang="en-US" b="1" i="0" dirty="0">
                <a:solidFill>
                  <a:srgbClr val="222222"/>
                </a:solidFill>
                <a:effectLst/>
                <a:latin typeface="system-ui"/>
              </a:rPr>
              <a:t>Source — Carrier Reservoir and Reference Node</a:t>
            </a:r>
            <a:endParaRPr lang="en-US" dirty="0">
              <a:solidFill>
                <a:srgbClr val="222222"/>
              </a:solidFill>
              <a:effectLst/>
              <a:latin typeface="system-ui"/>
            </a:endParaRPr>
          </a:p>
          <a:p>
            <a:pPr algn="l">
              <a:lnSpc>
                <a:spcPct val="150000"/>
              </a:lnSpc>
              <a:buNone/>
            </a:pPr>
            <a:r>
              <a:rPr lang="en-US" b="0" i="0" dirty="0">
                <a:solidFill>
                  <a:srgbClr val="222222"/>
                </a:solidFill>
                <a:effectLst/>
                <a:latin typeface="system-ui"/>
              </a:rPr>
              <a:t>A heavily doped semiconductor region supplying carriers to the channel.</a:t>
            </a:r>
            <a:endParaRPr lang="en-US" dirty="0">
              <a:solidFill>
                <a:srgbClr val="222222"/>
              </a:solidFill>
              <a:effectLst/>
              <a:latin typeface="system-ui"/>
            </a:endParaRPr>
          </a:p>
          <a:p>
            <a:pPr>
              <a:lnSpc>
                <a:spcPct val="150000"/>
              </a:lnSpc>
            </a:pPr>
            <a:r>
              <a:rPr lang="en-US" b="1" dirty="0"/>
              <a:t>Drain — Current Collector and High-Field Region</a:t>
            </a:r>
          </a:p>
          <a:p>
            <a:pPr>
              <a:lnSpc>
                <a:spcPct val="150000"/>
              </a:lnSpc>
            </a:pPr>
            <a:r>
              <a:rPr lang="en-US" dirty="0"/>
              <a:t>Another heavily doped region that collects carriers from the channel</a:t>
            </a:r>
          </a:p>
          <a:p>
            <a:pPr>
              <a:lnSpc>
                <a:spcPct val="150000"/>
              </a:lnSpc>
            </a:pPr>
            <a:r>
              <a:rPr lang="en-US" b="1" dirty="0"/>
              <a:t>The 4th terminal (Body) and body effect</a:t>
            </a:r>
            <a:br>
              <a:rPr lang="en-US" dirty="0"/>
            </a:br>
            <a:r>
              <a:rPr lang="en-US" dirty="0"/>
              <a:t>The Body terminal changes the depletion region and shifts </a:t>
            </a:r>
            <a:r>
              <a:rPr lang="en-US" dirty="0" err="1"/>
              <a:t>V</a:t>
            </a:r>
            <a:r>
              <a:rPr lang="en-US" sz="1200" dirty="0" err="1"/>
              <a:t>Th</a:t>
            </a:r>
            <a:r>
              <a:rPr lang="en-US" dirty="0"/>
              <a:t>. When source-body bias increases, turning the MOSFET ON becomes harder (</a:t>
            </a:r>
            <a:r>
              <a:rPr lang="en-US" dirty="0" err="1"/>
              <a:t>V</a:t>
            </a:r>
            <a:r>
              <a:rPr lang="en-US" sz="1200" dirty="0" err="1"/>
              <a:t>Th</a:t>
            </a:r>
            <a:r>
              <a:rPr lang="en-US" dirty="0"/>
              <a:t> rises). In many circuits the body is tied to the source, but in IC design it can be used deliberately.</a:t>
            </a:r>
          </a:p>
          <a:p>
            <a:pPr>
              <a:buNone/>
            </a:pPr>
            <a:br>
              <a:rPr lang="en-US" dirty="0"/>
            </a:br>
            <a:endParaRPr lang="en-US" dirty="0"/>
          </a:p>
        </p:txBody>
      </p:sp>
    </p:spTree>
    <p:extLst>
      <p:ext uri="{BB962C8B-B14F-4D97-AF65-F5344CB8AC3E}">
        <p14:creationId xmlns:p14="http://schemas.microsoft.com/office/powerpoint/2010/main" val="4019931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230B5F7-F9E3-CF9F-D9B9-5B48B74E03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0" y="393322"/>
            <a:ext cx="9086851" cy="6218813"/>
          </a:xfrm>
          <a:prstGeom prst="rect">
            <a:avLst/>
          </a:prstGeom>
        </p:spPr>
      </p:pic>
    </p:spTree>
    <p:extLst>
      <p:ext uri="{BB962C8B-B14F-4D97-AF65-F5344CB8AC3E}">
        <p14:creationId xmlns:p14="http://schemas.microsoft.com/office/powerpoint/2010/main" val="3865548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16C94A-DEDB-7503-FC41-2145DB4F393D}"/>
              </a:ext>
            </a:extLst>
          </p:cNvPr>
          <p:cNvSpPr txBox="1"/>
          <p:nvPr/>
        </p:nvSpPr>
        <p:spPr>
          <a:xfrm>
            <a:off x="5821227" y="2931122"/>
            <a:ext cx="6097554" cy="392159"/>
          </a:xfrm>
          <a:prstGeom prst="rect">
            <a:avLst/>
          </a:prstGeom>
          <a:noFill/>
        </p:spPr>
        <p:txBody>
          <a:bodyPr wrap="square">
            <a:spAutoFit/>
          </a:bodyPr>
          <a:lstStyle/>
          <a:p>
            <a:pPr algn="ctr">
              <a:lnSpc>
                <a:spcPct val="115000"/>
              </a:lnSpc>
              <a:spcAft>
                <a:spcPts val="800"/>
              </a:spcAft>
              <a:buNone/>
            </a:pPr>
            <a:endParaRPr lang="en-US" sz="1800" kern="100" dirty="0">
              <a:effectLst/>
              <a:ea typeface="Calibri" panose="020F0502020204030204" pitchFamily="34" charset="0"/>
              <a:cs typeface="Arial" panose="020B0604020202020204" pitchFamily="34" charset="0"/>
            </a:endParaRPr>
          </a:p>
        </p:txBody>
      </p:sp>
      <p:sp>
        <p:nvSpPr>
          <p:cNvPr id="2" name="TextBox 1">
            <a:extLst>
              <a:ext uri="{FF2B5EF4-FFF2-40B4-BE49-F238E27FC236}">
                <a16:creationId xmlns:a16="http://schemas.microsoft.com/office/drawing/2014/main" id="{DDDBB185-EBFB-FF8A-47FD-D19A4C69638C}"/>
              </a:ext>
            </a:extLst>
          </p:cNvPr>
          <p:cNvSpPr txBox="1"/>
          <p:nvPr/>
        </p:nvSpPr>
        <p:spPr>
          <a:xfrm>
            <a:off x="1722735" y="711764"/>
            <a:ext cx="8746529" cy="4204356"/>
          </a:xfrm>
          <a:prstGeom prst="rect">
            <a:avLst/>
          </a:prstGeom>
          <a:noFill/>
        </p:spPr>
        <p:txBody>
          <a:bodyPr wrap="square" rtlCol="0">
            <a:spAutoFit/>
          </a:bodyPr>
          <a:lstStyle/>
          <a:p>
            <a:pPr algn="ctr">
              <a:lnSpc>
                <a:spcPct val="150000"/>
              </a:lnSpc>
            </a:pPr>
            <a:r>
              <a:rPr lang="en-US" b="1" dirty="0"/>
              <a:t>Basic Operation (the real mechanism)</a:t>
            </a:r>
            <a:endParaRPr lang="fa-IR" b="1" kern="0" dirty="0">
              <a:solidFill>
                <a:srgbClr val="222222"/>
              </a:solidFill>
              <a:ea typeface="Times New Roman" panose="02020603050405020304" pitchFamily="18" charset="0"/>
              <a:cs typeface="Times New Roman" panose="02020603050405020304" pitchFamily="18" charset="0"/>
            </a:endParaRPr>
          </a:p>
          <a:p>
            <a:pPr algn="ctr">
              <a:lnSpc>
                <a:spcPct val="150000"/>
              </a:lnSpc>
            </a:pPr>
            <a:r>
              <a:rPr lang="en-US" kern="0" dirty="0">
                <a:solidFill>
                  <a:srgbClr val="222222"/>
                </a:solidFill>
                <a:ea typeface="Times New Roman" panose="02020603050405020304" pitchFamily="18" charset="0"/>
                <a:cs typeface="Times New Roman" panose="02020603050405020304" pitchFamily="18" charset="0"/>
              </a:rPr>
              <a:t>When a voltage is applied to the Gate, the electric field penetrates the oxide and rearranges charge near the silicon surface. If the Gate voltage is large enough, the surface forms a thin conductive layer called the inversion channel, connecting Source to Drain. Drain current is a direct result of this electrostatic channel formation</a:t>
            </a:r>
            <a:r>
              <a:rPr lang="en-US" kern="0" dirty="0">
                <a:solidFill>
                  <a:srgbClr val="222222"/>
                </a:solidFill>
                <a:latin typeface="Verdana" panose="020B0604030504040204" pitchFamily="34" charset="0"/>
                <a:ea typeface="Times New Roman" panose="02020603050405020304" pitchFamily="18" charset="0"/>
                <a:cs typeface="Times New Roman" panose="02020603050405020304" pitchFamily="18" charset="0"/>
              </a:rPr>
              <a:t>.</a:t>
            </a:r>
          </a:p>
          <a:p>
            <a:pPr algn="ctr">
              <a:lnSpc>
                <a:spcPct val="150000"/>
              </a:lnSpc>
            </a:pPr>
            <a:r>
              <a:rPr lang="en-US" b="1" dirty="0">
                <a:solidFill>
                  <a:srgbClr val="222222"/>
                </a:solidFill>
              </a:rPr>
              <a:t>Who moves, and what direction?</a:t>
            </a:r>
          </a:p>
          <a:p>
            <a:pPr algn="ctr">
              <a:lnSpc>
                <a:spcPct val="150000"/>
              </a:lnSpc>
            </a:pPr>
            <a:r>
              <a:rPr lang="en-US" dirty="0"/>
              <a:t>In NMOS (PMOS), </a:t>
            </a:r>
            <a:r>
              <a:rPr lang="en-US" i="1" dirty="0"/>
              <a:t>electrons (holes)</a:t>
            </a:r>
            <a:r>
              <a:rPr lang="en-US" dirty="0"/>
              <a:t> are the main moving carriers in the channel. Electrons drift from Source to Drain when V</a:t>
            </a:r>
            <a:r>
              <a:rPr lang="en-US" sz="1200" dirty="0"/>
              <a:t>DS</a:t>
            </a:r>
            <a:r>
              <a:rPr lang="en-US" dirty="0"/>
              <a:t> is applied. Conventional current is drawn in the opposite direction, but the key point is: V</a:t>
            </a:r>
            <a:r>
              <a:rPr lang="en-US" sz="1200" dirty="0"/>
              <a:t>DS</a:t>
            </a:r>
            <a:r>
              <a:rPr lang="en-US" dirty="0"/>
              <a:t> provides the driving force.</a:t>
            </a:r>
          </a:p>
          <a:p>
            <a:pPr algn="ctr">
              <a:lnSpc>
                <a:spcPct val="150000"/>
              </a:lnSpc>
            </a:pPr>
            <a:endParaRPr lang="en-US" kern="1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063157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2000"/>
            <a:lum/>
          </a:blip>
          <a:srcRect/>
          <a:stretch>
            <a:fillRect/>
          </a:stretch>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0FCE817-F28E-F792-9C15-5A22D8F624C3}"/>
              </a:ext>
            </a:extLst>
          </p:cNvPr>
          <p:cNvPicPr>
            <a:picLocks noChangeAspect="1"/>
          </p:cNvPicPr>
          <p:nvPr/>
        </p:nvPicPr>
        <p:blipFill>
          <a:blip r:embed="rId3"/>
          <a:stretch>
            <a:fillRect/>
          </a:stretch>
        </p:blipFill>
        <p:spPr>
          <a:xfrm>
            <a:off x="6096000" y="518229"/>
            <a:ext cx="5160056" cy="5557381"/>
          </a:xfrm>
          <a:prstGeom prst="rect">
            <a:avLst/>
          </a:prstGeom>
        </p:spPr>
      </p:pic>
      <p:sp>
        <p:nvSpPr>
          <p:cNvPr id="3" name="TextBox 2">
            <a:extLst>
              <a:ext uri="{FF2B5EF4-FFF2-40B4-BE49-F238E27FC236}">
                <a16:creationId xmlns:a16="http://schemas.microsoft.com/office/drawing/2014/main" id="{25AC7647-823F-91E9-6191-06E6969E7CBA}"/>
              </a:ext>
            </a:extLst>
          </p:cNvPr>
          <p:cNvSpPr txBox="1"/>
          <p:nvPr/>
        </p:nvSpPr>
        <p:spPr>
          <a:xfrm>
            <a:off x="1158240" y="1107440"/>
            <a:ext cx="4358640" cy="3693319"/>
          </a:xfrm>
          <a:prstGeom prst="rect">
            <a:avLst/>
          </a:prstGeom>
          <a:noFill/>
        </p:spPr>
        <p:txBody>
          <a:bodyPr wrap="square" rtlCol="0">
            <a:spAutoFit/>
          </a:bodyPr>
          <a:lstStyle/>
          <a:p>
            <a:pPr>
              <a:lnSpc>
                <a:spcPct val="150000"/>
              </a:lnSpc>
            </a:pPr>
            <a:r>
              <a:rPr lang="en-US" dirty="0"/>
              <a:t>Circuit symbols are simplified drawings of a physical device: Gate </a:t>
            </a:r>
            <a:r>
              <a:rPr lang="en-US" dirty="0" err="1"/>
              <a:t>contols</a:t>
            </a:r>
            <a:r>
              <a:rPr lang="en-US" dirty="0"/>
              <a:t> a channel between Drain and Source , and the Body terminal exists even if not shown. Two standard plots describe MOSFET behavior: Iᴅ–Vᴅs (output) and Iᴅ–</a:t>
            </a:r>
            <a:r>
              <a:rPr lang="en-US" dirty="0" err="1"/>
              <a:t>Vɢs</a:t>
            </a:r>
            <a:r>
              <a:rPr lang="en-US" dirty="0"/>
              <a:t> (transfer). These plots reveal the operating regions and the threshold concept.</a:t>
            </a:r>
          </a:p>
          <a:p>
            <a:endParaRPr lang="en-US" dirty="0"/>
          </a:p>
        </p:txBody>
      </p:sp>
    </p:spTree>
    <p:extLst>
      <p:ext uri="{BB962C8B-B14F-4D97-AF65-F5344CB8AC3E}">
        <p14:creationId xmlns:p14="http://schemas.microsoft.com/office/powerpoint/2010/main" val="4130392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5000"/>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63ACCD-FB77-24D8-7E32-896D3B6FE890}"/>
              </a:ext>
            </a:extLst>
          </p:cNvPr>
          <p:cNvSpPr txBox="1"/>
          <p:nvPr/>
        </p:nvSpPr>
        <p:spPr>
          <a:xfrm>
            <a:off x="2965943" y="1325960"/>
            <a:ext cx="6097554" cy="2862322"/>
          </a:xfrm>
          <a:prstGeom prst="rect">
            <a:avLst/>
          </a:prstGeom>
          <a:noFill/>
        </p:spPr>
        <p:txBody>
          <a:bodyPr wrap="square">
            <a:spAutoFit/>
          </a:bodyPr>
          <a:lstStyle/>
          <a:p>
            <a:pPr algn="ctr">
              <a:buNone/>
            </a:pPr>
            <a:r>
              <a:rPr lang="en-US" b="1" dirty="0">
                <a:effectLst/>
              </a:rPr>
              <a:t>Key Parameters </a:t>
            </a:r>
            <a:br>
              <a:rPr lang="en-US" b="1" dirty="0">
                <a:effectLst/>
              </a:rPr>
            </a:br>
            <a:endParaRPr lang="en-US" b="1" dirty="0">
              <a:effectLst/>
            </a:endParaRPr>
          </a:p>
          <a:p>
            <a:pPr algn="ctr"/>
            <a:r>
              <a:rPr lang="en-US" dirty="0"/>
              <a:t>A few parameters capture MOSFET behavior:</a:t>
            </a:r>
            <a:br>
              <a:rPr lang="en-US" dirty="0"/>
            </a:br>
            <a:endParaRPr lang="en-US" dirty="0"/>
          </a:p>
          <a:p>
            <a:pPr algn="ctr"/>
            <a:r>
              <a:rPr lang="en-US" i="1" dirty="0" err="1">
                <a:solidFill>
                  <a:srgbClr val="C00000"/>
                </a:solidFill>
              </a:rPr>
              <a:t>V</a:t>
            </a:r>
            <a:r>
              <a:rPr lang="en-US" sz="1200" i="1" dirty="0" err="1">
                <a:solidFill>
                  <a:srgbClr val="C00000"/>
                </a:solidFill>
              </a:rPr>
              <a:t>Th</a:t>
            </a:r>
            <a:r>
              <a:rPr lang="en-US" i="1" dirty="0">
                <a:solidFill>
                  <a:srgbClr val="C00000"/>
                </a:solidFill>
              </a:rPr>
              <a:t> (threshold voltage):  </a:t>
            </a:r>
            <a:r>
              <a:rPr lang="en-US" dirty="0"/>
              <a:t>when a strong channel begins</a:t>
            </a:r>
            <a:br>
              <a:rPr lang="en-US" dirty="0"/>
            </a:br>
            <a:endParaRPr lang="en-US" dirty="0"/>
          </a:p>
          <a:p>
            <a:pPr algn="ctr"/>
            <a:r>
              <a:rPr lang="en-US" i="1" dirty="0">
                <a:solidFill>
                  <a:srgbClr val="C00000"/>
                </a:solidFill>
              </a:rPr>
              <a:t>R</a:t>
            </a:r>
            <a:r>
              <a:rPr lang="en-US" sz="1200" i="1" dirty="0">
                <a:solidFill>
                  <a:srgbClr val="C00000"/>
                </a:solidFill>
              </a:rPr>
              <a:t>DS</a:t>
            </a:r>
            <a:r>
              <a:rPr lang="en-US" i="1" dirty="0">
                <a:solidFill>
                  <a:srgbClr val="C00000"/>
                </a:solidFill>
              </a:rPr>
              <a:t>(on):  </a:t>
            </a:r>
            <a:r>
              <a:rPr lang="en-US" dirty="0"/>
              <a:t>resistance when ON (critical in power MOSFETs)</a:t>
            </a:r>
            <a:br>
              <a:rPr lang="en-US" dirty="0"/>
            </a:br>
            <a:endParaRPr lang="en-US" dirty="0"/>
          </a:p>
          <a:p>
            <a:pPr algn="ctr"/>
            <a:r>
              <a:rPr lang="en-US" i="1" dirty="0">
                <a:solidFill>
                  <a:srgbClr val="C00000"/>
                </a:solidFill>
              </a:rPr>
              <a:t>Capacitances / gate charge (C</a:t>
            </a:r>
            <a:r>
              <a:rPr lang="en-US" sz="1200" i="1" dirty="0">
                <a:solidFill>
                  <a:srgbClr val="C00000"/>
                </a:solidFill>
              </a:rPr>
              <a:t>gs</a:t>
            </a:r>
            <a:r>
              <a:rPr lang="en-US" i="1" dirty="0">
                <a:solidFill>
                  <a:srgbClr val="C00000"/>
                </a:solidFill>
              </a:rPr>
              <a:t>, </a:t>
            </a:r>
            <a:r>
              <a:rPr lang="en-US" i="1" dirty="0" err="1">
                <a:solidFill>
                  <a:srgbClr val="C00000"/>
                </a:solidFill>
              </a:rPr>
              <a:t>C</a:t>
            </a:r>
            <a:r>
              <a:rPr lang="en-US" sz="1200" i="1" dirty="0" err="1">
                <a:solidFill>
                  <a:srgbClr val="C00000"/>
                </a:solidFill>
              </a:rPr>
              <a:t>gd</a:t>
            </a:r>
            <a:r>
              <a:rPr lang="en-US" i="1" dirty="0">
                <a:solidFill>
                  <a:srgbClr val="C00000"/>
                </a:solidFill>
              </a:rPr>
              <a:t>, </a:t>
            </a:r>
            <a:r>
              <a:rPr lang="en-US" i="1" dirty="0" err="1">
                <a:solidFill>
                  <a:srgbClr val="C00000"/>
                </a:solidFill>
              </a:rPr>
              <a:t>Q</a:t>
            </a:r>
            <a:r>
              <a:rPr lang="en-US" sz="1200" i="1" dirty="0" err="1">
                <a:solidFill>
                  <a:srgbClr val="C00000"/>
                </a:solidFill>
              </a:rPr>
              <a:t>g</a:t>
            </a:r>
            <a:r>
              <a:rPr lang="en-US" i="1" dirty="0">
                <a:solidFill>
                  <a:srgbClr val="C00000"/>
                </a:solidFill>
              </a:rPr>
              <a:t>): </a:t>
            </a:r>
            <a:r>
              <a:rPr lang="en-US" dirty="0"/>
              <a:t>how fast it can switch</a:t>
            </a:r>
            <a:br>
              <a:rPr lang="en-US" dirty="0"/>
            </a:br>
            <a:endParaRPr lang="en-US" dirty="0"/>
          </a:p>
        </p:txBody>
      </p:sp>
    </p:spTree>
    <p:extLst>
      <p:ext uri="{BB962C8B-B14F-4D97-AF65-F5344CB8AC3E}">
        <p14:creationId xmlns:p14="http://schemas.microsoft.com/office/powerpoint/2010/main" val="3811740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5000"/>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73B20B-F256-9DCD-799A-4AEDD31D5519}"/>
              </a:ext>
            </a:extLst>
          </p:cNvPr>
          <p:cNvSpPr txBox="1"/>
          <p:nvPr/>
        </p:nvSpPr>
        <p:spPr>
          <a:xfrm>
            <a:off x="2038350" y="494576"/>
            <a:ext cx="7867650" cy="4524315"/>
          </a:xfrm>
          <a:prstGeom prst="rect">
            <a:avLst/>
          </a:prstGeom>
          <a:noFill/>
        </p:spPr>
        <p:txBody>
          <a:bodyPr wrap="square">
            <a:spAutoFit/>
          </a:bodyPr>
          <a:lstStyle/>
          <a:p>
            <a:pPr algn="ctr">
              <a:lnSpc>
                <a:spcPct val="150000"/>
              </a:lnSpc>
              <a:buNone/>
            </a:pPr>
            <a:r>
              <a:rPr lang="en-US" b="1" dirty="0">
                <a:effectLst/>
              </a:rPr>
              <a:t>Threshold voltage </a:t>
            </a:r>
            <a:br>
              <a:rPr lang="en-US" dirty="0">
                <a:effectLst/>
              </a:rPr>
            </a:br>
            <a:r>
              <a:rPr lang="en-US" dirty="0" err="1"/>
              <a:t>V</a:t>
            </a:r>
            <a:r>
              <a:rPr lang="en-US" sz="1200" dirty="0" err="1"/>
              <a:t>Th</a:t>
            </a:r>
            <a:r>
              <a:rPr lang="en-US" dirty="0"/>
              <a:t> marks the gate voltage where strong inversion begins and the channel becomes conductive. </a:t>
            </a:r>
            <a:r>
              <a:rPr lang="en-US" dirty="0" err="1"/>
              <a:t>V</a:t>
            </a:r>
            <a:r>
              <a:rPr lang="en-US" sz="1200" dirty="0" err="1"/>
              <a:t>Th</a:t>
            </a:r>
            <a:r>
              <a:rPr lang="en-US" dirty="0"/>
              <a:t> depends on materials and structure: doping, oxide thickness, work functions, and oxide/interface charges.</a:t>
            </a:r>
          </a:p>
          <a:p>
            <a:pPr algn="ctr">
              <a:buNone/>
            </a:pPr>
            <a:endParaRPr lang="en-US" dirty="0"/>
          </a:p>
          <a:p>
            <a:pPr algn="ctr">
              <a:lnSpc>
                <a:spcPct val="150000"/>
              </a:lnSpc>
              <a:buNone/>
            </a:pPr>
            <a:r>
              <a:rPr lang="en-US" dirty="0"/>
              <a:t>The field penetrates the semiconductor (not uniformly) and voltage drops in that region (</a:t>
            </a:r>
            <a:r>
              <a:rPr lang="en-US" dirty="0" err="1"/>
              <a:t>V</a:t>
            </a:r>
            <a:r>
              <a:rPr lang="en-US" sz="1200" dirty="0" err="1"/>
              <a:t>sc</a:t>
            </a:r>
            <a:r>
              <a:rPr lang="en-US" dirty="0"/>
              <a:t> , it is not a constant value)</a:t>
            </a:r>
          </a:p>
          <a:p>
            <a:pPr algn="ctr">
              <a:buNone/>
            </a:pPr>
            <a:endParaRPr lang="en-US" dirty="0"/>
          </a:p>
          <a:p>
            <a:pPr algn="ctr">
              <a:buNone/>
            </a:pPr>
            <a:r>
              <a:rPr lang="en-US" dirty="0"/>
              <a:t>E= -</a:t>
            </a:r>
            <a:r>
              <a:rPr lang="en-US" dirty="0" err="1"/>
              <a:t>dV</a:t>
            </a:r>
            <a:r>
              <a:rPr lang="en-US" dirty="0"/>
              <a:t>/</a:t>
            </a:r>
            <a:r>
              <a:rPr lang="en-US" dirty="0" err="1"/>
              <a:t>dX</a:t>
            </a:r>
            <a:endParaRPr lang="en-US" dirty="0"/>
          </a:p>
          <a:p>
            <a:pPr algn="ctr">
              <a:buNone/>
            </a:pPr>
            <a:endParaRPr lang="en-US" dirty="0"/>
          </a:p>
          <a:p>
            <a:pPr algn="ctr">
              <a:buNone/>
            </a:pPr>
            <a:r>
              <a:rPr lang="en-US" dirty="0"/>
              <a:t>Applied Voltage = Voltage drop in semiconductor + Voltage drop in the oxide layer</a:t>
            </a:r>
          </a:p>
          <a:p>
            <a:pPr algn="ctr">
              <a:buNone/>
            </a:pPr>
            <a:endParaRPr lang="en-US" dirty="0"/>
          </a:p>
          <a:p>
            <a:pPr algn="ctr">
              <a:buNone/>
            </a:pPr>
            <a:r>
              <a:rPr lang="en-US" dirty="0"/>
              <a:t>There are no charges in the oxide layer so V</a:t>
            </a:r>
            <a:r>
              <a:rPr lang="en-US" sz="1200" dirty="0"/>
              <a:t>ox</a:t>
            </a:r>
            <a:r>
              <a:rPr lang="en-US" dirty="0"/>
              <a:t> is constant.</a:t>
            </a:r>
          </a:p>
        </p:txBody>
      </p:sp>
    </p:spTree>
    <p:extLst>
      <p:ext uri="{BB962C8B-B14F-4D97-AF65-F5344CB8AC3E}">
        <p14:creationId xmlns:p14="http://schemas.microsoft.com/office/powerpoint/2010/main" val="1310353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5000"/>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CFBDC1-BE35-E6AB-9057-2E6E3200EFC5}"/>
              </a:ext>
            </a:extLst>
          </p:cNvPr>
          <p:cNvPicPr>
            <a:picLocks noChangeAspect="1"/>
          </p:cNvPicPr>
          <p:nvPr/>
        </p:nvPicPr>
        <p:blipFill>
          <a:blip r:embed="rId3"/>
          <a:srcRect r="2314"/>
          <a:stretch>
            <a:fillRect/>
          </a:stretch>
        </p:blipFill>
        <p:spPr>
          <a:xfrm>
            <a:off x="850319" y="1034334"/>
            <a:ext cx="3441444" cy="786645"/>
          </a:xfrm>
          <a:prstGeom prst="rect">
            <a:avLst/>
          </a:prstGeom>
        </p:spPr>
      </p:pic>
      <p:pic>
        <p:nvPicPr>
          <p:cNvPr id="5" name="Picture 4">
            <a:extLst>
              <a:ext uri="{FF2B5EF4-FFF2-40B4-BE49-F238E27FC236}">
                <a16:creationId xmlns:a16="http://schemas.microsoft.com/office/drawing/2014/main" id="{0CE42C01-6AA4-AA73-7D68-B597F657D345}"/>
              </a:ext>
            </a:extLst>
          </p:cNvPr>
          <p:cNvPicPr>
            <a:picLocks noChangeAspect="1"/>
          </p:cNvPicPr>
          <p:nvPr/>
        </p:nvPicPr>
        <p:blipFill>
          <a:blip r:embed="rId4"/>
          <a:stretch>
            <a:fillRect/>
          </a:stretch>
        </p:blipFill>
        <p:spPr>
          <a:xfrm>
            <a:off x="850319" y="406335"/>
            <a:ext cx="3441444" cy="614966"/>
          </a:xfrm>
          <a:prstGeom prst="rect">
            <a:avLst/>
          </a:prstGeom>
        </p:spPr>
      </p:pic>
      <p:pic>
        <p:nvPicPr>
          <p:cNvPr id="7" name="Picture 6">
            <a:extLst>
              <a:ext uri="{FF2B5EF4-FFF2-40B4-BE49-F238E27FC236}">
                <a16:creationId xmlns:a16="http://schemas.microsoft.com/office/drawing/2014/main" id="{801CA5A0-5715-E9E6-D006-F4F08D3B2292}"/>
              </a:ext>
            </a:extLst>
          </p:cNvPr>
          <p:cNvPicPr>
            <a:picLocks noChangeAspect="1"/>
          </p:cNvPicPr>
          <p:nvPr/>
        </p:nvPicPr>
        <p:blipFill>
          <a:blip r:embed="rId5"/>
          <a:stretch>
            <a:fillRect/>
          </a:stretch>
        </p:blipFill>
        <p:spPr>
          <a:xfrm>
            <a:off x="444756" y="2233549"/>
            <a:ext cx="8107711" cy="3591230"/>
          </a:xfrm>
          <a:prstGeom prst="rect">
            <a:avLst/>
          </a:prstGeom>
        </p:spPr>
      </p:pic>
      <p:pic>
        <p:nvPicPr>
          <p:cNvPr id="9" name="Picture 8">
            <a:extLst>
              <a:ext uri="{FF2B5EF4-FFF2-40B4-BE49-F238E27FC236}">
                <a16:creationId xmlns:a16="http://schemas.microsoft.com/office/drawing/2014/main" id="{F9C6099C-D325-5E65-5DA8-A8A093425859}"/>
              </a:ext>
            </a:extLst>
          </p:cNvPr>
          <p:cNvPicPr>
            <a:picLocks noChangeAspect="1"/>
          </p:cNvPicPr>
          <p:nvPr/>
        </p:nvPicPr>
        <p:blipFill>
          <a:blip r:embed="rId6"/>
          <a:srcRect l="6719" t="15444" r="4677" b="8463"/>
          <a:stretch>
            <a:fillRect/>
          </a:stretch>
        </p:blipFill>
        <p:spPr>
          <a:xfrm>
            <a:off x="4392079" y="355118"/>
            <a:ext cx="2709963" cy="679216"/>
          </a:xfrm>
          <a:prstGeom prst="rect">
            <a:avLst/>
          </a:prstGeom>
        </p:spPr>
      </p:pic>
      <p:pic>
        <p:nvPicPr>
          <p:cNvPr id="11" name="Picture 10">
            <a:extLst>
              <a:ext uri="{FF2B5EF4-FFF2-40B4-BE49-F238E27FC236}">
                <a16:creationId xmlns:a16="http://schemas.microsoft.com/office/drawing/2014/main" id="{2B4693E7-48D0-3124-E89A-50F450E36D41}"/>
              </a:ext>
            </a:extLst>
          </p:cNvPr>
          <p:cNvPicPr>
            <a:picLocks noChangeAspect="1"/>
          </p:cNvPicPr>
          <p:nvPr/>
        </p:nvPicPr>
        <p:blipFill>
          <a:blip r:embed="rId7"/>
          <a:stretch>
            <a:fillRect/>
          </a:stretch>
        </p:blipFill>
        <p:spPr>
          <a:xfrm>
            <a:off x="8735785" y="627978"/>
            <a:ext cx="1614587" cy="812712"/>
          </a:xfrm>
          <a:prstGeom prst="rect">
            <a:avLst/>
          </a:prstGeom>
        </p:spPr>
      </p:pic>
      <p:pic>
        <p:nvPicPr>
          <p:cNvPr id="13" name="Picture 12">
            <a:extLst>
              <a:ext uri="{FF2B5EF4-FFF2-40B4-BE49-F238E27FC236}">
                <a16:creationId xmlns:a16="http://schemas.microsoft.com/office/drawing/2014/main" id="{C432ED89-67A0-389B-2FC3-04CD8F48E5FD}"/>
              </a:ext>
            </a:extLst>
          </p:cNvPr>
          <p:cNvPicPr>
            <a:picLocks noChangeAspect="1"/>
          </p:cNvPicPr>
          <p:nvPr/>
        </p:nvPicPr>
        <p:blipFill>
          <a:blip r:embed="rId8"/>
          <a:stretch>
            <a:fillRect/>
          </a:stretch>
        </p:blipFill>
        <p:spPr>
          <a:xfrm>
            <a:off x="4191447" y="959530"/>
            <a:ext cx="4059568" cy="666121"/>
          </a:xfrm>
          <a:prstGeom prst="rect">
            <a:avLst/>
          </a:prstGeom>
        </p:spPr>
      </p:pic>
      <p:sp>
        <p:nvSpPr>
          <p:cNvPr id="17" name="TextBox 16">
            <a:extLst>
              <a:ext uri="{FF2B5EF4-FFF2-40B4-BE49-F238E27FC236}">
                <a16:creationId xmlns:a16="http://schemas.microsoft.com/office/drawing/2014/main" id="{FB78DE29-16E2-A7E5-96F3-0A57BAD9080E}"/>
              </a:ext>
            </a:extLst>
          </p:cNvPr>
          <p:cNvSpPr txBox="1"/>
          <p:nvPr/>
        </p:nvSpPr>
        <p:spPr>
          <a:xfrm>
            <a:off x="8971567" y="1820979"/>
            <a:ext cx="2933700" cy="2031325"/>
          </a:xfrm>
          <a:prstGeom prst="rect">
            <a:avLst/>
          </a:prstGeom>
          <a:noFill/>
        </p:spPr>
        <p:txBody>
          <a:bodyPr wrap="square" rtlCol="0">
            <a:spAutoFit/>
          </a:bodyPr>
          <a:lstStyle/>
          <a:p>
            <a:r>
              <a:rPr lang="en-US" dirty="0">
                <a:latin typeface="Adobe Arabic" panose="02040503050201020203" pitchFamily="18" charset="-78"/>
                <a:cs typeface="Adobe Arabic" panose="02040503050201020203" pitchFamily="18" charset="-78"/>
              </a:rPr>
              <a:t>L , Z </a:t>
            </a:r>
            <a:r>
              <a:rPr lang="en-US" dirty="0"/>
              <a:t>: </a:t>
            </a:r>
            <a:r>
              <a:rPr lang="en-US" sz="1600" dirty="0">
                <a:latin typeface="Adobe Arabic" panose="02040503050201020203" pitchFamily="18" charset="-78"/>
                <a:cs typeface="Adobe Arabic" panose="02040503050201020203" pitchFamily="18" charset="-78"/>
              </a:rPr>
              <a:t>the length and</a:t>
            </a:r>
          </a:p>
          <a:p>
            <a:r>
              <a:rPr lang="en-US" sz="1600" dirty="0">
                <a:latin typeface="Adobe Arabic" panose="02040503050201020203" pitchFamily="18" charset="-78"/>
                <a:cs typeface="Adobe Arabic" panose="02040503050201020203" pitchFamily="18" charset="-78"/>
              </a:rPr>
              <a:t>width of the gate controlling the channel</a:t>
            </a:r>
          </a:p>
          <a:p>
            <a:r>
              <a:rPr lang="el-GR" i="1" dirty="0">
                <a:cs typeface="Adobe Arabic" panose="02040503050201020203" pitchFamily="18" charset="-78"/>
              </a:rPr>
              <a:t>μ</a:t>
            </a:r>
            <a:r>
              <a:rPr lang="en-US" i="1" dirty="0">
                <a:latin typeface="Adobe Arabic" panose="02040503050201020203" pitchFamily="18" charset="-78"/>
                <a:cs typeface="Adobe Arabic" panose="02040503050201020203" pitchFamily="18" charset="-78"/>
              </a:rPr>
              <a:t>e : </a:t>
            </a:r>
            <a:r>
              <a:rPr lang="en-US" sz="1400" dirty="0">
                <a:latin typeface="Adobe Arabic" panose="02040503050201020203" pitchFamily="18" charset="-78"/>
                <a:cs typeface="Adobe Arabic" panose="02040503050201020203" pitchFamily="18" charset="-78"/>
              </a:rPr>
              <a:t>the electron drift mobility in the channel</a:t>
            </a:r>
            <a:endParaRPr lang="en-US" i="1" dirty="0">
              <a:latin typeface="Adobe Arabic" panose="02040503050201020203" pitchFamily="18" charset="-78"/>
              <a:cs typeface="Adobe Arabic" panose="02040503050201020203" pitchFamily="18" charset="-78"/>
            </a:endParaRPr>
          </a:p>
          <a:p>
            <a:r>
              <a:rPr lang="el-GR" i="1" dirty="0">
                <a:cs typeface="Adobe Arabic" panose="02040503050201020203" pitchFamily="18" charset="-78"/>
              </a:rPr>
              <a:t>ε </a:t>
            </a:r>
            <a:r>
              <a:rPr lang="en-US" i="1" dirty="0">
                <a:latin typeface="Adobe Arabic" panose="02040503050201020203" pitchFamily="18" charset="-78"/>
                <a:cs typeface="Adobe Arabic" panose="02040503050201020203" pitchFamily="18" charset="-78"/>
              </a:rPr>
              <a:t>,</a:t>
            </a:r>
            <a:r>
              <a:rPr lang="en-US" dirty="0">
                <a:latin typeface="Adobe Arabic" panose="02040503050201020203" pitchFamily="18" charset="-78"/>
                <a:cs typeface="Adobe Arabic" panose="02040503050201020203" pitchFamily="18" charset="-78"/>
              </a:rPr>
              <a:t> </a:t>
            </a:r>
            <a:r>
              <a:rPr lang="en-US" sz="2000" i="1" dirty="0">
                <a:latin typeface="Adobe Arabic" panose="02040503050201020203" pitchFamily="18" charset="-78"/>
                <a:cs typeface="Adobe Arabic" panose="02040503050201020203" pitchFamily="18" charset="-78"/>
              </a:rPr>
              <a:t>t</a:t>
            </a:r>
            <a:r>
              <a:rPr lang="en-US" sz="1400" dirty="0">
                <a:latin typeface="Adobe Arabic" panose="02040503050201020203" pitchFamily="18" charset="-78"/>
                <a:cs typeface="Adobe Arabic" panose="02040503050201020203" pitchFamily="18" charset="-78"/>
              </a:rPr>
              <a:t>ox</a:t>
            </a:r>
            <a:r>
              <a:rPr lang="en-US" dirty="0">
                <a:latin typeface="Adobe Arabic" panose="02040503050201020203" pitchFamily="18" charset="-78"/>
                <a:cs typeface="Adobe Arabic" panose="02040503050201020203" pitchFamily="18" charset="-78"/>
              </a:rPr>
              <a:t> </a:t>
            </a:r>
            <a:r>
              <a:rPr lang="en-US" i="1" dirty="0">
                <a:latin typeface="Adobe Arabic" panose="02040503050201020203" pitchFamily="18" charset="-78"/>
                <a:cs typeface="Adobe Arabic" panose="02040503050201020203" pitchFamily="18" charset="-78"/>
              </a:rPr>
              <a:t>:</a:t>
            </a:r>
            <a:r>
              <a:rPr lang="en-US" dirty="0">
                <a:latin typeface="Adobe Arabic" panose="02040503050201020203" pitchFamily="18" charset="-78"/>
                <a:cs typeface="Adobe Arabic" panose="02040503050201020203" pitchFamily="18" charset="-78"/>
              </a:rPr>
              <a:t> the permittivity (</a:t>
            </a:r>
            <a:r>
              <a:rPr lang="el-GR" i="1" dirty="0">
                <a:cs typeface="Adobe Arabic" panose="02040503050201020203" pitchFamily="18" charset="-78"/>
              </a:rPr>
              <a:t>ε</a:t>
            </a:r>
            <a:r>
              <a:rPr lang="en-US" i="1" dirty="0">
                <a:latin typeface="Adobe Arabic" panose="02040503050201020203" pitchFamily="18" charset="-78"/>
                <a:cs typeface="Adobe Arabic" panose="02040503050201020203" pitchFamily="18" charset="-78"/>
              </a:rPr>
              <a:t>r</a:t>
            </a:r>
            <a:r>
              <a:rPr lang="el-GR" i="1" dirty="0">
                <a:cs typeface="Adobe Arabic" panose="02040503050201020203" pitchFamily="18" charset="-78"/>
              </a:rPr>
              <a:t>ε</a:t>
            </a:r>
            <a:r>
              <a:rPr lang="en-US" i="1" dirty="0">
                <a:latin typeface="Adobe Arabic" panose="02040503050201020203" pitchFamily="18" charset="-78"/>
                <a:cs typeface="Adobe Arabic" panose="02040503050201020203" pitchFamily="18" charset="-78"/>
              </a:rPr>
              <a:t>o</a:t>
            </a:r>
            <a:r>
              <a:rPr lang="en-US" dirty="0">
                <a:latin typeface="Adobe Arabic" panose="02040503050201020203" pitchFamily="18" charset="-78"/>
                <a:cs typeface="Adobe Arabic" panose="02040503050201020203" pitchFamily="18" charset="-78"/>
              </a:rPr>
              <a:t>)</a:t>
            </a:r>
          </a:p>
          <a:p>
            <a:r>
              <a:rPr lang="en-US" dirty="0">
                <a:latin typeface="Adobe Arabic" panose="02040503050201020203" pitchFamily="18" charset="-78"/>
                <a:cs typeface="Adobe Arabic" panose="02040503050201020203" pitchFamily="18" charset="-78"/>
              </a:rPr>
              <a:t>and thickness of the oxide insulation under the gate</a:t>
            </a:r>
          </a:p>
          <a:p>
            <a:r>
              <a:rPr lang="en-US" dirty="0">
                <a:latin typeface="Adobe Arabic" panose="02040503050201020203" pitchFamily="18" charset="-78"/>
                <a:cs typeface="Adobe Arabic" panose="02040503050201020203" pitchFamily="18" charset="-78"/>
              </a:rPr>
              <a:t>λ : a constant that is typically 0.01 V−1</a:t>
            </a:r>
          </a:p>
        </p:txBody>
      </p:sp>
      <p:sp>
        <p:nvSpPr>
          <p:cNvPr id="19" name="TextBox 18">
            <a:extLst>
              <a:ext uri="{FF2B5EF4-FFF2-40B4-BE49-F238E27FC236}">
                <a16:creationId xmlns:a16="http://schemas.microsoft.com/office/drawing/2014/main" id="{F9AED951-3B9E-C8E7-EF01-E28877EA61AA}"/>
              </a:ext>
            </a:extLst>
          </p:cNvPr>
          <p:cNvSpPr txBox="1"/>
          <p:nvPr/>
        </p:nvSpPr>
        <p:spPr>
          <a:xfrm>
            <a:off x="4546941" y="1653746"/>
            <a:ext cx="3448896" cy="338554"/>
          </a:xfrm>
          <a:prstGeom prst="rect">
            <a:avLst/>
          </a:prstGeom>
          <a:noFill/>
        </p:spPr>
        <p:txBody>
          <a:bodyPr wrap="square">
            <a:spAutoFit/>
          </a:bodyPr>
          <a:lstStyle/>
          <a:p>
            <a:pPr algn="l"/>
            <a:r>
              <a:rPr lang="en-US" sz="1600" b="0" i="0" u="none" strike="noStrike" baseline="0" dirty="0">
                <a:latin typeface="Arial Narrow" panose="020B0606020202030204" pitchFamily="34" charset="0"/>
              </a:rPr>
              <a:t>slopes of the </a:t>
            </a:r>
            <a:r>
              <a:rPr lang="en-US" sz="1600" b="0" i="1" u="none" strike="noStrike" baseline="0" dirty="0">
                <a:latin typeface="Arial Narrow" panose="020B0606020202030204" pitchFamily="34" charset="0"/>
              </a:rPr>
              <a:t>I</a:t>
            </a:r>
            <a:r>
              <a:rPr lang="en-US" sz="700" b="0" i="1" u="none" strike="noStrike" baseline="0" dirty="0">
                <a:latin typeface="Arial Narrow" panose="020B0606020202030204" pitchFamily="34" charset="0"/>
              </a:rPr>
              <a:t>D  </a:t>
            </a:r>
            <a:r>
              <a:rPr lang="en-US" sz="1600" b="0" i="0" u="none" strike="noStrike" baseline="0" dirty="0">
                <a:latin typeface="Arial Narrow" panose="020B0606020202030204" pitchFamily="34" charset="0"/>
              </a:rPr>
              <a:t>versus </a:t>
            </a:r>
            <a:r>
              <a:rPr lang="en-US" sz="1600" b="0" i="1" u="none" strike="noStrike" baseline="0" dirty="0">
                <a:latin typeface="Arial Narrow" panose="020B0606020202030204" pitchFamily="34" charset="0"/>
              </a:rPr>
              <a:t>V</a:t>
            </a:r>
            <a:r>
              <a:rPr lang="en-US" sz="700" b="0" i="1" u="none" strike="noStrike" baseline="0" dirty="0">
                <a:latin typeface="Arial Narrow" panose="020B0606020202030204" pitchFamily="34" charset="0"/>
              </a:rPr>
              <a:t>DS  </a:t>
            </a:r>
            <a:r>
              <a:rPr lang="en-US" sz="1600" b="0" i="0" u="none" strike="noStrike" baseline="0" dirty="0">
                <a:latin typeface="Arial Narrow" panose="020B0606020202030204" pitchFamily="34" charset="0"/>
              </a:rPr>
              <a:t>lines beyond </a:t>
            </a:r>
            <a:r>
              <a:rPr lang="en-US" sz="1600" b="0" i="1" u="none" strike="noStrike" baseline="0" dirty="0">
                <a:latin typeface="Arial Narrow" panose="020B0606020202030204" pitchFamily="34" charset="0"/>
              </a:rPr>
              <a:t>V</a:t>
            </a:r>
            <a:r>
              <a:rPr lang="en-US" sz="700" b="0" i="1" u="none" strike="noStrike" baseline="0" dirty="0">
                <a:latin typeface="Arial Narrow" panose="020B0606020202030204" pitchFamily="34" charset="0"/>
              </a:rPr>
              <a:t>DS</a:t>
            </a:r>
            <a:r>
              <a:rPr lang="en-US" sz="700" b="0" i="0" u="none" strike="noStrike" baseline="0" dirty="0">
                <a:latin typeface="Arial Narrow" panose="020B0606020202030204" pitchFamily="34" charset="0"/>
              </a:rPr>
              <a:t>(sat)</a:t>
            </a:r>
            <a:endParaRPr lang="en-US" sz="1600" dirty="0">
              <a:latin typeface="Arial Narrow" panose="020B0606020202030204" pitchFamily="34" charset="0"/>
            </a:endParaRPr>
          </a:p>
        </p:txBody>
      </p:sp>
      <p:sp>
        <p:nvSpPr>
          <p:cNvPr id="21" name="TextBox 20">
            <a:extLst>
              <a:ext uri="{FF2B5EF4-FFF2-40B4-BE49-F238E27FC236}">
                <a16:creationId xmlns:a16="http://schemas.microsoft.com/office/drawing/2014/main" id="{9FF59019-41D0-AE27-FD2C-DFD692158C5E}"/>
              </a:ext>
            </a:extLst>
          </p:cNvPr>
          <p:cNvSpPr txBox="1"/>
          <p:nvPr/>
        </p:nvSpPr>
        <p:spPr>
          <a:xfrm>
            <a:off x="8552467" y="1138701"/>
            <a:ext cx="838200" cy="307777"/>
          </a:xfrm>
          <a:prstGeom prst="rect">
            <a:avLst/>
          </a:prstGeom>
          <a:noFill/>
        </p:spPr>
        <p:txBody>
          <a:bodyPr wrap="square" rtlCol="0">
            <a:spAutoFit/>
          </a:bodyPr>
          <a:lstStyle/>
          <a:p>
            <a:r>
              <a:rPr lang="en-US" sz="1400" dirty="0"/>
              <a:t>constant</a:t>
            </a:r>
          </a:p>
        </p:txBody>
      </p:sp>
    </p:spTree>
    <p:extLst>
      <p:ext uri="{BB962C8B-B14F-4D97-AF65-F5344CB8AC3E}">
        <p14:creationId xmlns:p14="http://schemas.microsoft.com/office/powerpoint/2010/main" val="7272535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5000"/>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1F4FC27-4A75-A8EF-AF09-6B09E1855B88}"/>
              </a:ext>
            </a:extLst>
          </p:cNvPr>
          <p:cNvSpPr txBox="1"/>
          <p:nvPr/>
        </p:nvSpPr>
        <p:spPr>
          <a:xfrm>
            <a:off x="533400" y="990569"/>
            <a:ext cx="3895725" cy="3788858"/>
          </a:xfrm>
          <a:prstGeom prst="rect">
            <a:avLst/>
          </a:prstGeom>
          <a:noFill/>
        </p:spPr>
        <p:txBody>
          <a:bodyPr wrap="square">
            <a:spAutoFit/>
          </a:bodyPr>
          <a:lstStyle/>
          <a:p>
            <a:pPr>
              <a:lnSpc>
                <a:spcPct val="150000"/>
              </a:lnSpc>
              <a:buNone/>
            </a:pPr>
            <a:r>
              <a:rPr lang="en-US" dirty="0">
                <a:effectLst/>
              </a:rPr>
              <a:t> </a:t>
            </a:r>
            <a:r>
              <a:rPr lang="en-US" b="1" dirty="0">
                <a:effectLst/>
              </a:rPr>
              <a:t>Accumulation, depletion, inversion </a:t>
            </a:r>
            <a:br>
              <a:rPr lang="en-US" dirty="0">
                <a:effectLst/>
              </a:rPr>
            </a:br>
            <a:r>
              <a:rPr lang="en-US" dirty="0"/>
              <a:t>As gate voltage changes, the silicon surface goes through three states:</a:t>
            </a:r>
          </a:p>
          <a:p>
            <a:pPr>
              <a:lnSpc>
                <a:spcPct val="150000"/>
              </a:lnSpc>
            </a:pPr>
            <a:r>
              <a:rPr lang="en-US" i="1" dirty="0">
                <a:solidFill>
                  <a:srgbClr val="C00000"/>
                </a:solidFill>
              </a:rPr>
              <a:t>Accumulation:</a:t>
            </a:r>
            <a:r>
              <a:rPr lang="en-US" dirty="0"/>
              <a:t> majority carriers gather at the surface</a:t>
            </a:r>
          </a:p>
          <a:p>
            <a:pPr>
              <a:lnSpc>
                <a:spcPct val="150000"/>
              </a:lnSpc>
            </a:pPr>
            <a:r>
              <a:rPr lang="en-US" i="1" dirty="0">
                <a:solidFill>
                  <a:srgbClr val="C00000"/>
                </a:solidFill>
              </a:rPr>
              <a:t>Depletion</a:t>
            </a:r>
            <a:r>
              <a:rPr lang="en-US" dirty="0"/>
              <a:t>: majority carriers pushed away → depleted region</a:t>
            </a:r>
          </a:p>
          <a:p>
            <a:pPr>
              <a:lnSpc>
                <a:spcPct val="150000"/>
              </a:lnSpc>
            </a:pPr>
            <a:r>
              <a:rPr lang="en-US" i="1" dirty="0">
                <a:solidFill>
                  <a:srgbClr val="C00000"/>
                </a:solidFill>
              </a:rPr>
              <a:t>Inversion:</a:t>
            </a:r>
            <a:r>
              <a:rPr lang="en-US" dirty="0"/>
              <a:t> minority carriers dominate at the surface → conductive channel</a:t>
            </a:r>
          </a:p>
        </p:txBody>
      </p:sp>
      <p:pic>
        <p:nvPicPr>
          <p:cNvPr id="6" name="Picture 5">
            <a:extLst>
              <a:ext uri="{FF2B5EF4-FFF2-40B4-BE49-F238E27FC236}">
                <a16:creationId xmlns:a16="http://schemas.microsoft.com/office/drawing/2014/main" id="{D1AB0636-148D-6AA6-1BC3-2CBD30C35E49}"/>
              </a:ext>
            </a:extLst>
          </p:cNvPr>
          <p:cNvPicPr>
            <a:picLocks noChangeAspect="1"/>
          </p:cNvPicPr>
          <p:nvPr/>
        </p:nvPicPr>
        <p:blipFill>
          <a:blip r:embed="rId3"/>
          <a:srcRect l="842" t="8410" r="4660"/>
          <a:stretch>
            <a:fillRect/>
          </a:stretch>
        </p:blipFill>
        <p:spPr>
          <a:xfrm>
            <a:off x="4429125" y="1440681"/>
            <a:ext cx="7543800" cy="3062521"/>
          </a:xfrm>
          <a:prstGeom prst="rect">
            <a:avLst/>
          </a:prstGeom>
        </p:spPr>
      </p:pic>
    </p:spTree>
    <p:extLst>
      <p:ext uri="{BB962C8B-B14F-4D97-AF65-F5344CB8AC3E}">
        <p14:creationId xmlns:p14="http://schemas.microsoft.com/office/powerpoint/2010/main" val="415950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0000"/>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763AE0-FF95-E2AA-8E1C-DB42DE7D5068}"/>
              </a:ext>
            </a:extLst>
          </p:cNvPr>
          <p:cNvSpPr txBox="1"/>
          <p:nvPr/>
        </p:nvSpPr>
        <p:spPr>
          <a:xfrm>
            <a:off x="2909887" y="1637149"/>
            <a:ext cx="6129338" cy="3139321"/>
          </a:xfrm>
          <a:prstGeom prst="rect">
            <a:avLst/>
          </a:prstGeom>
          <a:noFill/>
        </p:spPr>
        <p:txBody>
          <a:bodyPr wrap="square">
            <a:spAutoFit/>
          </a:bodyPr>
          <a:lstStyle/>
          <a:p>
            <a:pPr algn="ctr">
              <a:lnSpc>
                <a:spcPct val="150000"/>
              </a:lnSpc>
            </a:pPr>
            <a:r>
              <a:rPr lang="en-US" b="1" i="0" dirty="0">
                <a:solidFill>
                  <a:srgbClr val="222222"/>
                </a:solidFill>
                <a:effectLst/>
                <a:latin typeface="irans"/>
              </a:rPr>
              <a:t>Pinch-off</a:t>
            </a:r>
            <a:endParaRPr lang="fa-IR" b="1" i="0" dirty="0">
              <a:solidFill>
                <a:srgbClr val="222222"/>
              </a:solidFill>
              <a:effectLst/>
              <a:latin typeface="irans"/>
            </a:endParaRPr>
          </a:p>
          <a:p>
            <a:pPr algn="ctr">
              <a:lnSpc>
                <a:spcPct val="150000"/>
              </a:lnSpc>
            </a:pPr>
            <a:r>
              <a:rPr lang="en-US" dirty="0"/>
              <a:t>Pinch-off means the channel becomes very thin near the drain when V</a:t>
            </a:r>
            <a:r>
              <a:rPr lang="en-US" sz="1200" dirty="0"/>
              <a:t>DS</a:t>
            </a:r>
            <a:r>
              <a:rPr lang="fa-IR" sz="1200" dirty="0"/>
              <a:t> </a:t>
            </a:r>
            <a:r>
              <a:rPr lang="en-US" sz="1200" dirty="0"/>
              <a:t> </a:t>
            </a:r>
            <a:r>
              <a:rPr lang="en-US" dirty="0"/>
              <a:t>is high. Current still flows because carriers travel through a high-field region. Saturation means </a:t>
            </a:r>
            <a:r>
              <a:rPr lang="en-US" dirty="0">
                <a:solidFill>
                  <a:srgbClr val="C00000"/>
                </a:solidFill>
              </a:rPr>
              <a:t>gate control dominates</a:t>
            </a:r>
            <a:r>
              <a:rPr lang="en-US" dirty="0"/>
              <a:t>, not that current is “maximum forever.”</a:t>
            </a:r>
            <a:br>
              <a:rPr lang="en-US" dirty="0"/>
            </a:br>
            <a:endParaRPr lang="en-US" dirty="0"/>
          </a:p>
          <a:p>
            <a:br>
              <a:rPr lang="en-US" dirty="0"/>
            </a:br>
            <a:endParaRPr lang="en-US" b="1" dirty="0"/>
          </a:p>
        </p:txBody>
      </p:sp>
    </p:spTree>
    <p:extLst>
      <p:ext uri="{BB962C8B-B14F-4D97-AF65-F5344CB8AC3E}">
        <p14:creationId xmlns:p14="http://schemas.microsoft.com/office/powerpoint/2010/main" val="3166851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74000">
              <a:schemeClr val="bg1">
                <a:lumMod val="85000"/>
              </a:schemeClr>
            </a:gs>
            <a:gs pos="83000">
              <a:schemeClr val="bg1">
                <a:lumMod val="75000"/>
              </a:schemeClr>
            </a:gs>
            <a:gs pos="100000">
              <a:schemeClr val="bg1">
                <a:lumMod val="65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6C4AF3-3115-605B-1D63-67A6D64C32CA}"/>
              </a:ext>
            </a:extLst>
          </p:cNvPr>
          <p:cNvSpPr txBox="1"/>
          <p:nvPr/>
        </p:nvSpPr>
        <p:spPr>
          <a:xfrm>
            <a:off x="1066800" y="625095"/>
            <a:ext cx="10420350" cy="1200329"/>
          </a:xfrm>
          <a:prstGeom prst="rect">
            <a:avLst/>
          </a:prstGeom>
          <a:noFill/>
        </p:spPr>
        <p:txBody>
          <a:bodyPr wrap="square" rtlCol="0">
            <a:spAutoFit/>
          </a:bodyPr>
          <a:lstStyle/>
          <a:p>
            <a:r>
              <a:rPr lang="en-US" b="1" dirty="0"/>
              <a:t>Types of MOSFET</a:t>
            </a:r>
          </a:p>
          <a:p>
            <a:r>
              <a:rPr lang="en-US" dirty="0"/>
              <a:t>MOSFETs are classified by carrier type and default </a:t>
            </a:r>
            <a:r>
              <a:rPr lang="en-US" dirty="0" err="1"/>
              <a:t>bahavior</a:t>
            </a:r>
            <a:r>
              <a:rPr lang="en-US" dirty="0"/>
              <a:t>. NMOS uses electrons as main carriers; PMOS uses holes . Most modern devices are enhancement-mode (normally OFF, turns ON by gate voltage). In power electronics we use power MOSFETs, optimized for low loss and high current.</a:t>
            </a:r>
          </a:p>
        </p:txBody>
      </p:sp>
      <p:pic>
        <p:nvPicPr>
          <p:cNvPr id="7" name="Picture 6">
            <a:extLst>
              <a:ext uri="{FF2B5EF4-FFF2-40B4-BE49-F238E27FC236}">
                <a16:creationId xmlns:a16="http://schemas.microsoft.com/office/drawing/2014/main" id="{7536F8BF-520C-3F9D-B14E-A7D807D59941}"/>
              </a:ext>
            </a:extLst>
          </p:cNvPr>
          <p:cNvPicPr>
            <a:picLocks noChangeAspect="1"/>
          </p:cNvPicPr>
          <p:nvPr/>
        </p:nvPicPr>
        <p:blipFill>
          <a:blip r:embed="rId2"/>
          <a:srcRect l="2108" t="1254" r="3358" b="-1"/>
          <a:stretch>
            <a:fillRect/>
          </a:stretch>
        </p:blipFill>
        <p:spPr>
          <a:xfrm>
            <a:off x="1228729" y="2054701"/>
            <a:ext cx="5078962" cy="4178204"/>
          </a:xfrm>
          <a:prstGeom prst="rect">
            <a:avLst/>
          </a:prstGeom>
        </p:spPr>
      </p:pic>
      <p:pic>
        <p:nvPicPr>
          <p:cNvPr id="9" name="Picture 8">
            <a:extLst>
              <a:ext uri="{FF2B5EF4-FFF2-40B4-BE49-F238E27FC236}">
                <a16:creationId xmlns:a16="http://schemas.microsoft.com/office/drawing/2014/main" id="{97669AEC-89C3-FF49-CD57-280E3B479C38}"/>
              </a:ext>
            </a:extLst>
          </p:cNvPr>
          <p:cNvPicPr>
            <a:picLocks noChangeAspect="1"/>
          </p:cNvPicPr>
          <p:nvPr/>
        </p:nvPicPr>
        <p:blipFill>
          <a:blip r:embed="rId3"/>
          <a:stretch>
            <a:fillRect/>
          </a:stretch>
        </p:blipFill>
        <p:spPr>
          <a:xfrm>
            <a:off x="6307691" y="2054701"/>
            <a:ext cx="4574473" cy="4178204"/>
          </a:xfrm>
          <a:prstGeom prst="rect">
            <a:avLst/>
          </a:prstGeom>
        </p:spPr>
      </p:pic>
    </p:spTree>
    <p:extLst>
      <p:ext uri="{BB962C8B-B14F-4D97-AF65-F5344CB8AC3E}">
        <p14:creationId xmlns:p14="http://schemas.microsoft.com/office/powerpoint/2010/main" val="26189915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7000"/>
            <a:lum/>
          </a:blip>
          <a:srcRect/>
          <a:stretch>
            <a:fillRect l="-1000" r="-1000"/>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EFFEB0-5394-EBEB-96DF-91DF145289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3509" y="1224928"/>
            <a:ext cx="9001468" cy="4408144"/>
          </a:xfrm>
          <a:prstGeom prst="rect">
            <a:avLst/>
          </a:prstGeom>
        </p:spPr>
      </p:pic>
    </p:spTree>
    <p:extLst>
      <p:ext uri="{BB962C8B-B14F-4D97-AF65-F5344CB8AC3E}">
        <p14:creationId xmlns:p14="http://schemas.microsoft.com/office/powerpoint/2010/main" val="10728119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0000"/>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D307D6B-50CE-84DA-F12A-EEAD74E76954}"/>
              </a:ext>
            </a:extLst>
          </p:cNvPr>
          <p:cNvSpPr txBox="1"/>
          <p:nvPr/>
        </p:nvSpPr>
        <p:spPr>
          <a:xfrm>
            <a:off x="1391316" y="1172380"/>
            <a:ext cx="4597719" cy="3032369"/>
          </a:xfrm>
          <a:prstGeom prst="rect">
            <a:avLst/>
          </a:prstGeom>
          <a:noFill/>
        </p:spPr>
        <p:txBody>
          <a:bodyPr wrap="square">
            <a:spAutoFit/>
          </a:bodyPr>
          <a:lstStyle/>
          <a:p>
            <a:pPr>
              <a:lnSpc>
                <a:spcPct val="115000"/>
              </a:lnSpc>
              <a:spcAft>
                <a:spcPts val="800"/>
              </a:spcAft>
              <a:buNone/>
            </a:pPr>
            <a:r>
              <a:rPr lang="en-US" b="1" dirty="0"/>
              <a:t>Important Operating Regions</a:t>
            </a:r>
            <a:endParaRPr lang="fa-IR" sz="1800" b="1" kern="0" dirty="0">
              <a:solidFill>
                <a:srgbClr val="222222"/>
              </a:solidFill>
              <a:effectLst/>
              <a:ea typeface="Times New Roman" panose="02020603050405020304" pitchFamily="18" charset="0"/>
              <a:cs typeface="Times New Roman" panose="02020603050405020304" pitchFamily="18" charset="0"/>
            </a:endParaRPr>
          </a:p>
          <a:p>
            <a:pPr>
              <a:lnSpc>
                <a:spcPct val="115000"/>
              </a:lnSpc>
              <a:spcAft>
                <a:spcPts val="800"/>
              </a:spcAft>
              <a:buNone/>
            </a:pPr>
            <a:r>
              <a:rPr lang="en-US" sz="1800" kern="0" dirty="0">
                <a:solidFill>
                  <a:srgbClr val="222222"/>
                </a:solidFill>
                <a:effectLst/>
                <a:ea typeface="Times New Roman" panose="02020603050405020304" pitchFamily="18" charset="0"/>
                <a:cs typeface="Times New Roman" panose="02020603050405020304" pitchFamily="18" charset="0"/>
              </a:rPr>
              <a:t>MOSFET behavior depends on Gate and Drain voltages:</a:t>
            </a:r>
            <a:endParaRPr lang="fa-IR" kern="100" dirty="0">
              <a:ea typeface="Times New Roman" panose="02020603050405020304" pitchFamily="18" charset="0"/>
              <a:cs typeface="Arial" panose="020B0604020202020204" pitchFamily="34" charset="0"/>
            </a:endParaRPr>
          </a:p>
          <a:p>
            <a:pPr>
              <a:lnSpc>
                <a:spcPct val="115000"/>
              </a:lnSpc>
              <a:spcAft>
                <a:spcPts val="800"/>
              </a:spcAft>
              <a:buNone/>
            </a:pPr>
            <a:r>
              <a:rPr lang="en-US" sz="1800" b="1" i="1" kern="0" dirty="0">
                <a:solidFill>
                  <a:srgbClr val="222222"/>
                </a:solidFill>
                <a:effectLst/>
                <a:ea typeface="Times New Roman" panose="02020603050405020304" pitchFamily="18" charset="0"/>
                <a:cs typeface="Times New Roman" panose="02020603050405020304" pitchFamily="18" charset="0"/>
              </a:rPr>
              <a:t>Cutoff</a:t>
            </a:r>
            <a:r>
              <a:rPr lang="en-US" sz="1800" kern="0" dirty="0">
                <a:solidFill>
                  <a:srgbClr val="222222"/>
                </a:solidFill>
                <a:effectLst/>
                <a:ea typeface="Times New Roman" panose="02020603050405020304" pitchFamily="18" charset="0"/>
                <a:cs typeface="Times New Roman" panose="02020603050405020304" pitchFamily="18" charset="0"/>
              </a:rPr>
              <a:t>: no strong channel </a:t>
            </a:r>
            <a:r>
              <a:rPr lang="en-US" sz="1800" kern="0" dirty="0">
                <a:solidFill>
                  <a:srgbClr val="222222"/>
                </a:solidFill>
                <a:effectLst/>
                <a:ea typeface="Times New Roman" panose="02020603050405020304" pitchFamily="18" charset="0"/>
                <a:cs typeface="Arial" panose="020B0604020202020204" pitchFamily="34" charset="0"/>
              </a:rPr>
              <a:t>→</a:t>
            </a:r>
            <a:r>
              <a:rPr lang="en-US" sz="1800" kern="0" dirty="0">
                <a:solidFill>
                  <a:srgbClr val="222222"/>
                </a:solidFill>
                <a:effectLst/>
                <a:ea typeface="Times New Roman" panose="02020603050405020304" pitchFamily="18" charset="0"/>
                <a:cs typeface="Times New Roman" panose="02020603050405020304" pitchFamily="18" charset="0"/>
              </a:rPr>
              <a:t> almost no current</a:t>
            </a:r>
            <a:endParaRPr lang="en-US" sz="1800" kern="100" dirty="0">
              <a:effectLst/>
              <a:ea typeface="Calibri" panose="020F0502020204030204" pitchFamily="34" charset="0"/>
              <a:cs typeface="Arial" panose="020B0604020202020204" pitchFamily="34" charset="0"/>
            </a:endParaRPr>
          </a:p>
          <a:p>
            <a:pPr>
              <a:lnSpc>
                <a:spcPct val="115000"/>
              </a:lnSpc>
              <a:spcAft>
                <a:spcPts val="800"/>
              </a:spcAft>
              <a:buNone/>
            </a:pPr>
            <a:r>
              <a:rPr lang="en-US" sz="1800" b="1" i="1" kern="0" dirty="0">
                <a:solidFill>
                  <a:srgbClr val="222222"/>
                </a:solidFill>
                <a:effectLst/>
                <a:ea typeface="Times New Roman" panose="02020603050405020304" pitchFamily="18" charset="0"/>
                <a:cs typeface="Times New Roman" panose="02020603050405020304" pitchFamily="18" charset="0"/>
              </a:rPr>
              <a:t>Linear (Triode): </a:t>
            </a:r>
            <a:r>
              <a:rPr lang="en-US" sz="1800" kern="0" dirty="0">
                <a:solidFill>
                  <a:srgbClr val="222222"/>
                </a:solidFill>
                <a:effectLst/>
                <a:ea typeface="Times New Roman" panose="02020603050405020304" pitchFamily="18" charset="0"/>
                <a:cs typeface="Times New Roman" panose="02020603050405020304" pitchFamily="18" charset="0"/>
              </a:rPr>
              <a:t>channel exists along the whole length </a:t>
            </a:r>
            <a:r>
              <a:rPr lang="en-US" sz="1800" kern="0" dirty="0">
                <a:solidFill>
                  <a:srgbClr val="222222"/>
                </a:solidFill>
                <a:effectLst/>
                <a:ea typeface="Times New Roman" panose="02020603050405020304" pitchFamily="18" charset="0"/>
                <a:cs typeface="Arial" panose="020B0604020202020204" pitchFamily="34" charset="0"/>
              </a:rPr>
              <a:t>→</a:t>
            </a:r>
            <a:r>
              <a:rPr lang="en-US" sz="1800" kern="0" dirty="0">
                <a:solidFill>
                  <a:srgbClr val="222222"/>
                </a:solidFill>
                <a:effectLst/>
                <a:ea typeface="Times New Roman" panose="02020603050405020304" pitchFamily="18" charset="0"/>
                <a:cs typeface="Times New Roman" panose="02020603050405020304" pitchFamily="18" charset="0"/>
              </a:rPr>
              <a:t> acts like a controllable resistor</a:t>
            </a:r>
            <a:endParaRPr lang="en-US" sz="1800" kern="100" dirty="0">
              <a:effectLst/>
              <a:ea typeface="Calibri" panose="020F0502020204030204" pitchFamily="34" charset="0"/>
              <a:cs typeface="Arial" panose="020B0604020202020204" pitchFamily="34" charset="0"/>
            </a:endParaRPr>
          </a:p>
          <a:p>
            <a:pPr>
              <a:lnSpc>
                <a:spcPct val="115000"/>
              </a:lnSpc>
              <a:spcAft>
                <a:spcPts val="800"/>
              </a:spcAft>
              <a:buNone/>
            </a:pPr>
            <a:r>
              <a:rPr lang="en-US" sz="1800" b="1" i="1" kern="0" dirty="0">
                <a:solidFill>
                  <a:srgbClr val="222222"/>
                </a:solidFill>
                <a:effectLst/>
                <a:ea typeface="Times New Roman" panose="02020603050405020304" pitchFamily="18" charset="0"/>
                <a:cs typeface="Times New Roman" panose="02020603050405020304" pitchFamily="18" charset="0"/>
              </a:rPr>
              <a:t>Saturation</a:t>
            </a:r>
            <a:r>
              <a:rPr lang="en-US" sz="1800" kern="0" dirty="0">
                <a:solidFill>
                  <a:srgbClr val="222222"/>
                </a:solidFill>
                <a:effectLst/>
                <a:ea typeface="Times New Roman" panose="02020603050405020304" pitchFamily="18" charset="0"/>
                <a:cs typeface="Times New Roman" panose="02020603050405020304" pitchFamily="18" charset="0"/>
              </a:rPr>
              <a:t>: channel is pinched near the drain </a:t>
            </a:r>
            <a:r>
              <a:rPr lang="en-US" sz="1800" kern="0" dirty="0">
                <a:solidFill>
                  <a:srgbClr val="222222"/>
                </a:solidFill>
                <a:effectLst/>
                <a:ea typeface="Times New Roman" panose="02020603050405020304" pitchFamily="18" charset="0"/>
                <a:cs typeface="Arial" panose="020B0604020202020204" pitchFamily="34" charset="0"/>
              </a:rPr>
              <a:t>→</a:t>
            </a:r>
            <a:r>
              <a:rPr lang="en-US" sz="1800" kern="0" dirty="0">
                <a:solidFill>
                  <a:srgbClr val="222222"/>
                </a:solidFill>
                <a:effectLst/>
                <a:ea typeface="Times New Roman" panose="02020603050405020304" pitchFamily="18" charset="0"/>
                <a:cs typeface="Times New Roman" panose="02020603050405020304" pitchFamily="18" charset="0"/>
              </a:rPr>
              <a:t> current mainly controlled by the Gate</a:t>
            </a:r>
            <a:endParaRPr lang="en-US" sz="1800" kern="100" dirty="0">
              <a:effectLst/>
              <a:ea typeface="Calibri" panose="020F050202020403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FA504DD-B813-0504-BCB4-ACD16E210FCF}"/>
              </a:ext>
            </a:extLst>
          </p:cNvPr>
          <p:cNvPicPr>
            <a:picLocks noChangeAspect="1"/>
          </p:cNvPicPr>
          <p:nvPr/>
        </p:nvPicPr>
        <p:blipFill>
          <a:blip r:embed="rId3"/>
          <a:srcRect l="5277" t="4593" r="5556" b="6666"/>
          <a:stretch>
            <a:fillRect/>
          </a:stretch>
        </p:blipFill>
        <p:spPr>
          <a:xfrm>
            <a:off x="6564915" y="724535"/>
            <a:ext cx="4676109" cy="4653773"/>
          </a:xfrm>
          <a:prstGeom prst="rect">
            <a:avLst/>
          </a:prstGeom>
        </p:spPr>
      </p:pic>
    </p:spTree>
    <p:extLst>
      <p:ext uri="{BB962C8B-B14F-4D97-AF65-F5344CB8AC3E}">
        <p14:creationId xmlns:p14="http://schemas.microsoft.com/office/powerpoint/2010/main" val="754439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34000">
              <a:schemeClr val="bg1">
                <a:lumMod val="85000"/>
              </a:schemeClr>
            </a:gs>
            <a:gs pos="65000">
              <a:schemeClr val="bg1">
                <a:lumMod val="75000"/>
              </a:schemeClr>
            </a:gs>
            <a:gs pos="100000">
              <a:schemeClr val="bg1"/>
            </a:gs>
          </a:gsLst>
          <a:lin ang="5400000" scaled="1"/>
        </a:gra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DF129B4-DB60-146A-D858-805FCBFEF47F}"/>
              </a:ext>
            </a:extLst>
          </p:cNvPr>
          <p:cNvPicPr>
            <a:picLocks noChangeAspect="1"/>
          </p:cNvPicPr>
          <p:nvPr/>
        </p:nvPicPr>
        <p:blipFill>
          <a:blip r:embed="rId2"/>
          <a:srcRect l="2156" r="1658" b="1309"/>
          <a:stretch>
            <a:fillRect/>
          </a:stretch>
        </p:blipFill>
        <p:spPr>
          <a:xfrm>
            <a:off x="6148069" y="459054"/>
            <a:ext cx="4553625" cy="5951271"/>
          </a:xfrm>
          <a:prstGeom prst="rect">
            <a:avLst/>
          </a:prstGeom>
        </p:spPr>
      </p:pic>
      <p:pic>
        <p:nvPicPr>
          <p:cNvPr id="5" name="Picture 4">
            <a:extLst>
              <a:ext uri="{FF2B5EF4-FFF2-40B4-BE49-F238E27FC236}">
                <a16:creationId xmlns:a16="http://schemas.microsoft.com/office/drawing/2014/main" id="{A4627D7D-4243-D6E9-1460-FCB3EC3D314A}"/>
              </a:ext>
            </a:extLst>
          </p:cNvPr>
          <p:cNvPicPr>
            <a:picLocks noChangeAspect="1"/>
          </p:cNvPicPr>
          <p:nvPr/>
        </p:nvPicPr>
        <p:blipFill>
          <a:blip r:embed="rId3"/>
          <a:srcRect l="1234" t="1111" r="1211" b="1037"/>
          <a:stretch>
            <a:fillRect/>
          </a:stretch>
        </p:blipFill>
        <p:spPr>
          <a:xfrm>
            <a:off x="1359496" y="467783"/>
            <a:ext cx="4553625" cy="5942542"/>
          </a:xfrm>
          <a:prstGeom prst="rect">
            <a:avLst/>
          </a:prstGeom>
        </p:spPr>
      </p:pic>
    </p:spTree>
    <p:extLst>
      <p:ext uri="{BB962C8B-B14F-4D97-AF65-F5344CB8AC3E}">
        <p14:creationId xmlns:p14="http://schemas.microsoft.com/office/powerpoint/2010/main" val="40317739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3000"/>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675ECE-5C28-BE3E-7991-43F6C32A02F7}"/>
              </a:ext>
            </a:extLst>
          </p:cNvPr>
          <p:cNvSpPr txBox="1"/>
          <p:nvPr/>
        </p:nvSpPr>
        <p:spPr>
          <a:xfrm>
            <a:off x="1640063" y="1275511"/>
            <a:ext cx="5360812" cy="3373359"/>
          </a:xfrm>
          <a:prstGeom prst="rect">
            <a:avLst/>
          </a:prstGeom>
          <a:noFill/>
        </p:spPr>
        <p:txBody>
          <a:bodyPr wrap="square">
            <a:spAutoFit/>
          </a:bodyPr>
          <a:lstStyle/>
          <a:p>
            <a:pPr>
              <a:lnSpc>
                <a:spcPct val="150000"/>
              </a:lnSpc>
            </a:pPr>
            <a:r>
              <a:rPr lang="en-US" b="1" i="0" dirty="0">
                <a:solidFill>
                  <a:srgbClr val="222222"/>
                </a:solidFill>
                <a:effectLst/>
              </a:rPr>
              <a:t>General Applications </a:t>
            </a:r>
          </a:p>
          <a:p>
            <a:pPr>
              <a:lnSpc>
                <a:spcPct val="150000"/>
              </a:lnSpc>
            </a:pPr>
            <a:r>
              <a:rPr lang="en-US" i="1" dirty="0">
                <a:solidFill>
                  <a:srgbClr val="C00000"/>
                </a:solidFill>
              </a:rPr>
              <a:t>CMOS (complementary Metal-Oxide </a:t>
            </a:r>
            <a:r>
              <a:rPr lang="en-US" i="1" dirty="0" err="1">
                <a:solidFill>
                  <a:srgbClr val="C00000"/>
                </a:solidFill>
              </a:rPr>
              <a:t>Semicoductor</a:t>
            </a:r>
            <a:r>
              <a:rPr lang="en-US" i="1" dirty="0">
                <a:solidFill>
                  <a:srgbClr val="C00000"/>
                </a:solidFill>
              </a:rPr>
              <a:t>): PMOS + NMOS</a:t>
            </a:r>
          </a:p>
          <a:p>
            <a:pPr>
              <a:lnSpc>
                <a:spcPct val="150000"/>
              </a:lnSpc>
            </a:pPr>
            <a:r>
              <a:rPr lang="en-US" dirty="0"/>
              <a:t>Fast switching speed (0,1)</a:t>
            </a:r>
          </a:p>
          <a:p>
            <a:pPr>
              <a:lnSpc>
                <a:spcPct val="150000"/>
              </a:lnSpc>
            </a:pPr>
            <a:r>
              <a:rPr lang="en-US" dirty="0"/>
              <a:t>logic gates, CPUs, memory</a:t>
            </a:r>
          </a:p>
          <a:p>
            <a:pPr>
              <a:lnSpc>
                <a:spcPct val="150000"/>
              </a:lnSpc>
            </a:pPr>
            <a:r>
              <a:rPr lang="en-US" dirty="0"/>
              <a:t>converters, chargers, motor drivers</a:t>
            </a:r>
          </a:p>
          <a:p>
            <a:pPr>
              <a:lnSpc>
                <a:spcPct val="150000"/>
              </a:lnSpc>
            </a:pPr>
            <a:r>
              <a:rPr lang="en-US" dirty="0"/>
              <a:t> amplifiers, analog switches</a:t>
            </a:r>
          </a:p>
          <a:p>
            <a:pPr>
              <a:lnSpc>
                <a:spcPct val="150000"/>
              </a:lnSpc>
            </a:pPr>
            <a:r>
              <a:rPr lang="en-US" dirty="0"/>
              <a:t> </a:t>
            </a:r>
          </a:p>
        </p:txBody>
      </p:sp>
      <p:pic>
        <p:nvPicPr>
          <p:cNvPr id="2" name="Picture 1">
            <a:extLst>
              <a:ext uri="{FF2B5EF4-FFF2-40B4-BE49-F238E27FC236}">
                <a16:creationId xmlns:a16="http://schemas.microsoft.com/office/drawing/2014/main" id="{D78960A1-EDB1-3037-1A1D-4F81E48F511D}"/>
              </a:ext>
            </a:extLst>
          </p:cNvPr>
          <p:cNvPicPr>
            <a:picLocks noChangeAspect="1"/>
          </p:cNvPicPr>
          <p:nvPr/>
        </p:nvPicPr>
        <p:blipFill>
          <a:blip r:embed="rId3"/>
          <a:stretch>
            <a:fillRect/>
          </a:stretch>
        </p:blipFill>
        <p:spPr>
          <a:xfrm>
            <a:off x="7210425" y="1434918"/>
            <a:ext cx="3732037" cy="2868140"/>
          </a:xfrm>
          <a:prstGeom prst="rect">
            <a:avLst/>
          </a:prstGeom>
        </p:spPr>
      </p:pic>
      <p:sp>
        <p:nvSpPr>
          <p:cNvPr id="5" name="TextBox 4">
            <a:extLst>
              <a:ext uri="{FF2B5EF4-FFF2-40B4-BE49-F238E27FC236}">
                <a16:creationId xmlns:a16="http://schemas.microsoft.com/office/drawing/2014/main" id="{DC77311E-F5F8-C31A-92AC-67D8EBA4634D}"/>
              </a:ext>
            </a:extLst>
          </p:cNvPr>
          <p:cNvSpPr txBox="1"/>
          <p:nvPr/>
        </p:nvSpPr>
        <p:spPr>
          <a:xfrm>
            <a:off x="9950910" y="1434918"/>
            <a:ext cx="904875" cy="369332"/>
          </a:xfrm>
          <a:prstGeom prst="rect">
            <a:avLst/>
          </a:prstGeom>
          <a:noFill/>
        </p:spPr>
        <p:txBody>
          <a:bodyPr wrap="square">
            <a:spAutoFit/>
          </a:bodyPr>
          <a:lstStyle/>
          <a:p>
            <a:r>
              <a:rPr lang="en-US" sz="1800" dirty="0"/>
              <a:t>CMOS</a:t>
            </a:r>
          </a:p>
        </p:txBody>
      </p:sp>
    </p:spTree>
    <p:extLst>
      <p:ext uri="{BB962C8B-B14F-4D97-AF65-F5344CB8AC3E}">
        <p14:creationId xmlns:p14="http://schemas.microsoft.com/office/powerpoint/2010/main" val="40354595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CC37FC-9C90-E220-3FAA-10424FC6F6A2}"/>
              </a:ext>
            </a:extLst>
          </p:cNvPr>
          <p:cNvSpPr txBox="1"/>
          <p:nvPr/>
        </p:nvSpPr>
        <p:spPr>
          <a:xfrm>
            <a:off x="2458995" y="2248673"/>
            <a:ext cx="7850272" cy="646331"/>
          </a:xfrm>
          <a:prstGeom prst="rect">
            <a:avLst/>
          </a:prstGeom>
          <a:noFill/>
        </p:spPr>
        <p:txBody>
          <a:bodyPr wrap="square">
            <a:spAutoFit/>
          </a:bodyPr>
          <a:lstStyle/>
          <a:p>
            <a:pPr algn="ctr"/>
            <a:r>
              <a:rPr lang="en-US" dirty="0">
                <a:solidFill>
                  <a:srgbClr val="222222"/>
                </a:solidFill>
              </a:rPr>
              <a:t>performance improvement , less energy consumption , more components on a chip (integration density) , higher speed , lower costs$</a:t>
            </a:r>
            <a:endParaRPr lang="en-US" dirty="0"/>
          </a:p>
        </p:txBody>
      </p:sp>
      <p:sp>
        <p:nvSpPr>
          <p:cNvPr id="7" name="TextBox 6">
            <a:extLst>
              <a:ext uri="{FF2B5EF4-FFF2-40B4-BE49-F238E27FC236}">
                <a16:creationId xmlns:a16="http://schemas.microsoft.com/office/drawing/2014/main" id="{4138F8F4-2441-19AA-B3CE-C6F65961B4B5}"/>
              </a:ext>
            </a:extLst>
          </p:cNvPr>
          <p:cNvSpPr txBox="1"/>
          <p:nvPr/>
        </p:nvSpPr>
        <p:spPr>
          <a:xfrm>
            <a:off x="3186110" y="911063"/>
            <a:ext cx="5819776" cy="461665"/>
          </a:xfrm>
          <a:prstGeom prst="rect">
            <a:avLst/>
          </a:prstGeom>
          <a:noFill/>
        </p:spPr>
        <p:txBody>
          <a:bodyPr wrap="square">
            <a:spAutoFit/>
          </a:bodyPr>
          <a:lstStyle/>
          <a:p>
            <a:pPr algn="ctr"/>
            <a:r>
              <a:rPr lang="en-US" sz="2400" b="1" i="0" dirty="0">
                <a:solidFill>
                  <a:srgbClr val="222222"/>
                </a:solidFill>
                <a:effectLst/>
              </a:rPr>
              <a:t>scaling</a:t>
            </a:r>
            <a:endParaRPr lang="en-US" sz="2400" dirty="0"/>
          </a:p>
        </p:txBody>
      </p:sp>
      <p:sp>
        <p:nvSpPr>
          <p:cNvPr id="9" name="TextBox 8">
            <a:extLst>
              <a:ext uri="{FF2B5EF4-FFF2-40B4-BE49-F238E27FC236}">
                <a16:creationId xmlns:a16="http://schemas.microsoft.com/office/drawing/2014/main" id="{D93D37A5-C3F8-139A-C818-8DFEA37D04A8}"/>
              </a:ext>
            </a:extLst>
          </p:cNvPr>
          <p:cNvSpPr txBox="1"/>
          <p:nvPr/>
        </p:nvSpPr>
        <p:spPr>
          <a:xfrm>
            <a:off x="2795585" y="1449524"/>
            <a:ext cx="6600826" cy="369332"/>
          </a:xfrm>
          <a:prstGeom prst="rect">
            <a:avLst/>
          </a:prstGeom>
          <a:noFill/>
        </p:spPr>
        <p:txBody>
          <a:bodyPr wrap="square">
            <a:spAutoFit/>
          </a:bodyPr>
          <a:lstStyle/>
          <a:p>
            <a:pPr algn="ctr"/>
            <a:r>
              <a:rPr lang="en-US" dirty="0">
                <a:solidFill>
                  <a:srgbClr val="222222"/>
                </a:solidFill>
              </a:rPr>
              <a:t>The process of reducing the physical dimensions of transistors in ICs  </a:t>
            </a:r>
            <a:endParaRPr lang="en-US" dirty="0"/>
          </a:p>
        </p:txBody>
      </p:sp>
      <p:sp>
        <p:nvSpPr>
          <p:cNvPr id="13" name="Arrow: Down 12">
            <a:extLst>
              <a:ext uri="{FF2B5EF4-FFF2-40B4-BE49-F238E27FC236}">
                <a16:creationId xmlns:a16="http://schemas.microsoft.com/office/drawing/2014/main" id="{8B4A4C35-D581-19A0-C729-71388B68694C}"/>
              </a:ext>
            </a:extLst>
          </p:cNvPr>
          <p:cNvSpPr/>
          <p:nvPr/>
        </p:nvSpPr>
        <p:spPr>
          <a:xfrm>
            <a:off x="5874542" y="1895652"/>
            <a:ext cx="442913" cy="276225"/>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14" name="Scroll: Horizontal 13">
            <a:extLst>
              <a:ext uri="{FF2B5EF4-FFF2-40B4-BE49-F238E27FC236}">
                <a16:creationId xmlns:a16="http://schemas.microsoft.com/office/drawing/2014/main" id="{FB3F481E-0CD8-5C41-50D2-6A624F0E6313}"/>
              </a:ext>
            </a:extLst>
          </p:cNvPr>
          <p:cNvSpPr/>
          <p:nvPr/>
        </p:nvSpPr>
        <p:spPr>
          <a:xfrm>
            <a:off x="3971924" y="2971800"/>
            <a:ext cx="4248150" cy="1790700"/>
          </a:xfrm>
          <a:prstGeom prst="horizontalScroll">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rPr>
              <a:t>Moore’s Law</a:t>
            </a:r>
          </a:p>
          <a:p>
            <a:pPr algn="ctr"/>
            <a:r>
              <a:rPr lang="en-US" dirty="0">
                <a:solidFill>
                  <a:schemeClr val="bg1"/>
                </a:solidFill>
              </a:rPr>
              <a:t>1965-Gordon Moore</a:t>
            </a:r>
          </a:p>
          <a:p>
            <a:pPr algn="ctr"/>
            <a:r>
              <a:rPr lang="en-US" dirty="0">
                <a:solidFill>
                  <a:schemeClr val="bg1"/>
                </a:solidFill>
              </a:rPr>
              <a:t>The number of transistors on a chip doubles approximately every 2 years</a:t>
            </a:r>
          </a:p>
        </p:txBody>
      </p:sp>
    </p:spTree>
    <p:extLst>
      <p:ext uri="{BB962C8B-B14F-4D97-AF65-F5344CB8AC3E}">
        <p14:creationId xmlns:p14="http://schemas.microsoft.com/office/powerpoint/2010/main" val="4155754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ircle(in)">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1000"/>
            <a:lum/>
          </a:blip>
          <a:srcRect/>
          <a:stretch>
            <a:fillRect l="-1000" r="-1000"/>
          </a:stretch>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B3D91E3-A6DF-AD77-6969-516C9AFDDD8E}"/>
              </a:ext>
            </a:extLst>
          </p:cNvPr>
          <p:cNvPicPr>
            <a:picLocks noChangeAspect="1"/>
          </p:cNvPicPr>
          <p:nvPr/>
        </p:nvPicPr>
        <p:blipFill>
          <a:blip r:embed="rId3"/>
          <a:stretch>
            <a:fillRect/>
          </a:stretch>
        </p:blipFill>
        <p:spPr>
          <a:xfrm>
            <a:off x="1790700" y="362545"/>
            <a:ext cx="9257221" cy="6132909"/>
          </a:xfrm>
          <a:prstGeom prst="rect">
            <a:avLst/>
          </a:prstGeom>
        </p:spPr>
      </p:pic>
      <p:pic>
        <p:nvPicPr>
          <p:cNvPr id="4" name="Picture 3">
            <a:extLst>
              <a:ext uri="{FF2B5EF4-FFF2-40B4-BE49-F238E27FC236}">
                <a16:creationId xmlns:a16="http://schemas.microsoft.com/office/drawing/2014/main" id="{AE45D1BC-E173-F7D2-8C99-6C9C233BF019}"/>
              </a:ext>
            </a:extLst>
          </p:cNvPr>
          <p:cNvPicPr>
            <a:picLocks noChangeAspect="1"/>
          </p:cNvPicPr>
          <p:nvPr/>
        </p:nvPicPr>
        <p:blipFill>
          <a:blip r:embed="rId4"/>
          <a:srcRect b="6944"/>
          <a:stretch>
            <a:fillRect/>
          </a:stretch>
        </p:blipFill>
        <p:spPr>
          <a:xfrm>
            <a:off x="1790700" y="362545"/>
            <a:ext cx="1856842" cy="1151930"/>
          </a:xfrm>
          <a:prstGeom prst="rect">
            <a:avLst/>
          </a:prstGeom>
        </p:spPr>
      </p:pic>
    </p:spTree>
    <p:extLst>
      <p:ext uri="{BB962C8B-B14F-4D97-AF65-F5344CB8AC3E}">
        <p14:creationId xmlns:p14="http://schemas.microsoft.com/office/powerpoint/2010/main" val="41400828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EFF291F-7CC6-5AF1-33C8-50641A8FBE4A}"/>
              </a:ext>
            </a:extLst>
          </p:cNvPr>
          <p:cNvSpPr txBox="1"/>
          <p:nvPr/>
        </p:nvSpPr>
        <p:spPr>
          <a:xfrm>
            <a:off x="1580865" y="755780"/>
            <a:ext cx="11294706" cy="646331"/>
          </a:xfrm>
          <a:prstGeom prst="rect">
            <a:avLst/>
          </a:prstGeom>
          <a:noFill/>
        </p:spPr>
        <p:txBody>
          <a:bodyPr wrap="square">
            <a:spAutoFit/>
          </a:bodyPr>
          <a:lstStyle/>
          <a:p>
            <a:r>
              <a:rPr lang="en-US" b="0" i="0" dirty="0">
                <a:solidFill>
                  <a:srgbClr val="222222"/>
                </a:solidFill>
                <a:effectLst/>
                <a:latin typeface="iransans"/>
              </a:rPr>
              <a:t>Process Node            </a:t>
            </a:r>
            <a:r>
              <a:rPr lang="en-US" dirty="0"/>
              <a:t>Gate Length            smallest Gap between two Transistors           No physical concept</a:t>
            </a:r>
          </a:p>
          <a:p>
            <a:r>
              <a:rPr lang="en-US" dirty="0"/>
              <a:t>  </a:t>
            </a:r>
          </a:p>
        </p:txBody>
      </p:sp>
      <p:cxnSp>
        <p:nvCxnSpPr>
          <p:cNvPr id="5" name="Straight Arrow Connector 4">
            <a:extLst>
              <a:ext uri="{FF2B5EF4-FFF2-40B4-BE49-F238E27FC236}">
                <a16:creationId xmlns:a16="http://schemas.microsoft.com/office/drawing/2014/main" id="{E8AEC753-9755-0140-3B3A-547A7F6C451B}"/>
              </a:ext>
            </a:extLst>
          </p:cNvPr>
          <p:cNvCxnSpPr>
            <a:cxnSpLocks/>
          </p:cNvCxnSpPr>
          <p:nvPr/>
        </p:nvCxnSpPr>
        <p:spPr>
          <a:xfrm>
            <a:off x="3012199" y="960061"/>
            <a:ext cx="4445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F8621883-4E53-DF16-B96E-96F24B1E3FAF}"/>
              </a:ext>
            </a:extLst>
          </p:cNvPr>
          <p:cNvPicPr>
            <a:picLocks noChangeAspect="1"/>
          </p:cNvPicPr>
          <p:nvPr/>
        </p:nvPicPr>
        <p:blipFill>
          <a:blip r:embed="rId3"/>
          <a:stretch>
            <a:fillRect/>
          </a:stretch>
        </p:blipFill>
        <p:spPr>
          <a:xfrm>
            <a:off x="942456" y="1402111"/>
            <a:ext cx="2514308" cy="2000333"/>
          </a:xfrm>
          <a:prstGeom prst="rect">
            <a:avLst/>
          </a:prstGeom>
        </p:spPr>
      </p:pic>
      <p:cxnSp>
        <p:nvCxnSpPr>
          <p:cNvPr id="9" name="Straight Arrow Connector 8">
            <a:extLst>
              <a:ext uri="{FF2B5EF4-FFF2-40B4-BE49-F238E27FC236}">
                <a16:creationId xmlns:a16="http://schemas.microsoft.com/office/drawing/2014/main" id="{27198D70-B7FB-26AE-28E8-F9593206DDEF}"/>
              </a:ext>
            </a:extLst>
          </p:cNvPr>
          <p:cNvCxnSpPr>
            <a:cxnSpLocks/>
          </p:cNvCxnSpPr>
          <p:nvPr/>
        </p:nvCxnSpPr>
        <p:spPr>
          <a:xfrm>
            <a:off x="4790669" y="960061"/>
            <a:ext cx="457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9492F6A-A5EC-7EFC-D6A9-67BCFB23F6B7}"/>
              </a:ext>
            </a:extLst>
          </p:cNvPr>
          <p:cNvCxnSpPr/>
          <p:nvPr/>
        </p:nvCxnSpPr>
        <p:spPr>
          <a:xfrm>
            <a:off x="8886015" y="960061"/>
            <a:ext cx="4476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4CC05453-8C1C-F5EF-A508-BDE038B10A50}"/>
              </a:ext>
            </a:extLst>
          </p:cNvPr>
          <p:cNvPicPr>
            <a:picLocks noChangeAspect="1"/>
          </p:cNvPicPr>
          <p:nvPr/>
        </p:nvPicPr>
        <p:blipFill>
          <a:blip r:embed="rId4"/>
          <a:stretch>
            <a:fillRect/>
          </a:stretch>
        </p:blipFill>
        <p:spPr>
          <a:xfrm>
            <a:off x="3586671" y="1402111"/>
            <a:ext cx="3533773" cy="1545761"/>
          </a:xfrm>
          <a:prstGeom prst="rect">
            <a:avLst/>
          </a:prstGeom>
        </p:spPr>
      </p:pic>
      <p:graphicFrame>
        <p:nvGraphicFramePr>
          <p:cNvPr id="15" name="Table 14">
            <a:extLst>
              <a:ext uri="{FF2B5EF4-FFF2-40B4-BE49-F238E27FC236}">
                <a16:creationId xmlns:a16="http://schemas.microsoft.com/office/drawing/2014/main" id="{B555983E-8E49-AC39-F2FB-6657E02660B3}"/>
              </a:ext>
            </a:extLst>
          </p:cNvPr>
          <p:cNvGraphicFramePr>
            <a:graphicFrameLocks noGrp="1"/>
          </p:cNvGraphicFramePr>
          <p:nvPr>
            <p:extLst>
              <p:ext uri="{D42A27DB-BD31-4B8C-83A1-F6EECF244321}">
                <p14:modId xmlns:p14="http://schemas.microsoft.com/office/powerpoint/2010/main" val="875600012"/>
              </p:ext>
            </p:extLst>
          </p:nvPr>
        </p:nvGraphicFramePr>
        <p:xfrm>
          <a:off x="3586671" y="2935728"/>
          <a:ext cx="3533772" cy="1667466"/>
        </p:xfrm>
        <a:graphic>
          <a:graphicData uri="http://schemas.openxmlformats.org/drawingml/2006/table">
            <a:tbl>
              <a:tblPr firstRow="1" bandRow="1">
                <a:tableStyleId>{F5AB1C69-6EDB-4FF4-983F-18BD219EF322}</a:tableStyleId>
              </a:tblPr>
              <a:tblGrid>
                <a:gridCol w="925596">
                  <a:extLst>
                    <a:ext uri="{9D8B030D-6E8A-4147-A177-3AD203B41FA5}">
                      <a16:colId xmlns:a16="http://schemas.microsoft.com/office/drawing/2014/main" val="68892620"/>
                    </a:ext>
                  </a:extLst>
                </a:gridCol>
                <a:gridCol w="1304088">
                  <a:extLst>
                    <a:ext uri="{9D8B030D-6E8A-4147-A177-3AD203B41FA5}">
                      <a16:colId xmlns:a16="http://schemas.microsoft.com/office/drawing/2014/main" val="831095659"/>
                    </a:ext>
                  </a:extLst>
                </a:gridCol>
                <a:gridCol w="1304088">
                  <a:extLst>
                    <a:ext uri="{9D8B030D-6E8A-4147-A177-3AD203B41FA5}">
                      <a16:colId xmlns:a16="http://schemas.microsoft.com/office/drawing/2014/main" val="2056345398"/>
                    </a:ext>
                  </a:extLst>
                </a:gridCol>
              </a:tblGrid>
              <a:tr h="555822">
                <a:tc>
                  <a:txBody>
                    <a:bodyPr/>
                    <a:lstStyle/>
                    <a:p>
                      <a:pPr algn="ctr"/>
                      <a:r>
                        <a:rPr lang="en-US" sz="1800" b="0" i="0" kern="1200" dirty="0">
                          <a:solidFill>
                            <a:schemeClr val="lt1"/>
                          </a:solidFill>
                          <a:effectLst/>
                          <a:latin typeface="+mn-lt"/>
                          <a:ea typeface="+mn-ea"/>
                          <a:cs typeface="+mn-cs"/>
                        </a:rPr>
                        <a:t>Celeron</a:t>
                      </a:r>
                      <a:endParaRPr lang="en-US" dirty="0"/>
                    </a:p>
                  </a:txBody>
                  <a:tcPr/>
                </a:tc>
                <a:tc>
                  <a:txBody>
                    <a:bodyPr/>
                    <a:lstStyle/>
                    <a:p>
                      <a:pPr algn="ctr"/>
                      <a:r>
                        <a:rPr lang="en-US" sz="1800" b="0" i="0" kern="1200" dirty="0">
                          <a:solidFill>
                            <a:schemeClr val="lt1"/>
                          </a:solidFill>
                          <a:effectLst/>
                          <a:latin typeface="+mn-lt"/>
                          <a:ea typeface="+mn-ea"/>
                          <a:cs typeface="+mn-cs"/>
                        </a:rPr>
                        <a:t>Pentium M</a:t>
                      </a:r>
                      <a:endParaRPr lang="en-US" dirty="0"/>
                    </a:p>
                  </a:txBody>
                  <a:tcPr/>
                </a:tc>
                <a:tc>
                  <a:txBody>
                    <a:bodyPr/>
                    <a:lstStyle/>
                    <a:p>
                      <a:pPr algn="ctr"/>
                      <a:r>
                        <a:rPr lang="en-US" sz="1800" b="0" i="0" kern="1200" dirty="0">
                          <a:solidFill>
                            <a:schemeClr val="lt1"/>
                          </a:solidFill>
                          <a:effectLst/>
                          <a:latin typeface="+mn-lt"/>
                          <a:ea typeface="+mn-ea"/>
                          <a:cs typeface="+mn-cs"/>
                        </a:rPr>
                        <a:t>Pentium</a:t>
                      </a:r>
                      <a:endParaRPr lang="en-US" dirty="0"/>
                    </a:p>
                  </a:txBody>
                  <a:tcPr/>
                </a:tc>
                <a:extLst>
                  <a:ext uri="{0D108BD9-81ED-4DB2-BD59-A6C34878D82A}">
                    <a16:rowId xmlns:a16="http://schemas.microsoft.com/office/drawing/2014/main" val="2702467665"/>
                  </a:ext>
                </a:extLst>
              </a:tr>
              <a:tr h="555822">
                <a:tc>
                  <a:txBody>
                    <a:bodyPr/>
                    <a:lstStyle/>
                    <a:p>
                      <a:pPr algn="ctr"/>
                      <a:r>
                        <a:rPr lang="fa-IR" dirty="0"/>
                        <a:t>2006</a:t>
                      </a:r>
                      <a:endParaRPr lang="en-US" dirty="0"/>
                    </a:p>
                  </a:txBody>
                  <a:tcPr/>
                </a:tc>
                <a:tc>
                  <a:txBody>
                    <a:bodyPr/>
                    <a:lstStyle/>
                    <a:p>
                      <a:pPr algn="ctr"/>
                      <a:r>
                        <a:rPr lang="fa-IR" dirty="0"/>
                        <a:t>2004</a:t>
                      </a:r>
                      <a:endParaRPr lang="en-US" dirty="0"/>
                    </a:p>
                  </a:txBody>
                  <a:tcPr/>
                </a:tc>
                <a:tc>
                  <a:txBody>
                    <a:bodyPr/>
                    <a:lstStyle/>
                    <a:p>
                      <a:pPr algn="ctr"/>
                      <a:r>
                        <a:rPr lang="fa-IR" dirty="0"/>
                        <a:t>1995</a:t>
                      </a:r>
                      <a:endParaRPr lang="en-US" dirty="0"/>
                    </a:p>
                  </a:txBody>
                  <a:tcPr/>
                </a:tc>
                <a:extLst>
                  <a:ext uri="{0D108BD9-81ED-4DB2-BD59-A6C34878D82A}">
                    <a16:rowId xmlns:a16="http://schemas.microsoft.com/office/drawing/2014/main" val="2461270687"/>
                  </a:ext>
                </a:extLst>
              </a:tr>
              <a:tr h="555822">
                <a:tc>
                  <a:txBody>
                    <a:bodyPr/>
                    <a:lstStyle/>
                    <a:p>
                      <a:pPr algn="ctr"/>
                      <a:r>
                        <a:rPr lang="fa-IR" dirty="0"/>
                        <a:t>65</a:t>
                      </a:r>
                      <a:r>
                        <a:rPr lang="en-US" dirty="0"/>
                        <a:t>nm</a:t>
                      </a:r>
                    </a:p>
                  </a:txBody>
                  <a:tcPr/>
                </a:tc>
                <a:tc>
                  <a:txBody>
                    <a:bodyPr/>
                    <a:lstStyle/>
                    <a:p>
                      <a:pPr algn="ctr"/>
                      <a:r>
                        <a:rPr lang="en-US" dirty="0"/>
                        <a:t>90nm</a:t>
                      </a:r>
                    </a:p>
                  </a:txBody>
                  <a:tcPr/>
                </a:tc>
                <a:tc>
                  <a:txBody>
                    <a:bodyPr/>
                    <a:lstStyle/>
                    <a:p>
                      <a:pPr algn="ctr"/>
                      <a:r>
                        <a:rPr lang="en-US" dirty="0"/>
                        <a:t>350nm</a:t>
                      </a:r>
                    </a:p>
                  </a:txBody>
                  <a:tcPr/>
                </a:tc>
                <a:extLst>
                  <a:ext uri="{0D108BD9-81ED-4DB2-BD59-A6C34878D82A}">
                    <a16:rowId xmlns:a16="http://schemas.microsoft.com/office/drawing/2014/main" val="433818429"/>
                  </a:ext>
                </a:extLst>
              </a:tr>
            </a:tbl>
          </a:graphicData>
        </a:graphic>
      </p:graphicFrame>
      <p:pic>
        <p:nvPicPr>
          <p:cNvPr id="16" name="Picture 15">
            <a:extLst>
              <a:ext uri="{FF2B5EF4-FFF2-40B4-BE49-F238E27FC236}">
                <a16:creationId xmlns:a16="http://schemas.microsoft.com/office/drawing/2014/main" id="{D2E34DD2-0302-E263-3BBF-CC049585BDA7}"/>
              </a:ext>
            </a:extLst>
          </p:cNvPr>
          <p:cNvPicPr>
            <a:picLocks noChangeAspect="1"/>
          </p:cNvPicPr>
          <p:nvPr/>
        </p:nvPicPr>
        <p:blipFill>
          <a:blip r:embed="rId5"/>
          <a:stretch>
            <a:fillRect/>
          </a:stretch>
        </p:blipFill>
        <p:spPr>
          <a:xfrm>
            <a:off x="7140669" y="1402111"/>
            <a:ext cx="4759636" cy="3170650"/>
          </a:xfrm>
          <a:prstGeom prst="rect">
            <a:avLst/>
          </a:prstGeom>
        </p:spPr>
      </p:pic>
      <p:pic>
        <p:nvPicPr>
          <p:cNvPr id="18" name="Picture 17">
            <a:extLst>
              <a:ext uri="{FF2B5EF4-FFF2-40B4-BE49-F238E27FC236}">
                <a16:creationId xmlns:a16="http://schemas.microsoft.com/office/drawing/2014/main" id="{90E0C428-1DFE-30CD-0B9A-580C417AA76B}"/>
              </a:ext>
            </a:extLst>
          </p:cNvPr>
          <p:cNvPicPr>
            <a:picLocks noChangeAspect="1"/>
          </p:cNvPicPr>
          <p:nvPr/>
        </p:nvPicPr>
        <p:blipFill>
          <a:blip r:embed="rId6"/>
          <a:stretch>
            <a:fillRect/>
          </a:stretch>
        </p:blipFill>
        <p:spPr>
          <a:xfrm>
            <a:off x="895114" y="3476592"/>
            <a:ext cx="2626603" cy="1096169"/>
          </a:xfrm>
          <a:prstGeom prst="rect">
            <a:avLst/>
          </a:prstGeom>
        </p:spPr>
      </p:pic>
      <p:sp>
        <p:nvSpPr>
          <p:cNvPr id="19" name="TextBox 18">
            <a:extLst>
              <a:ext uri="{FF2B5EF4-FFF2-40B4-BE49-F238E27FC236}">
                <a16:creationId xmlns:a16="http://schemas.microsoft.com/office/drawing/2014/main" id="{9E3F45A0-8C41-EB7B-4E9E-2E9624C378EC}"/>
              </a:ext>
            </a:extLst>
          </p:cNvPr>
          <p:cNvSpPr txBox="1"/>
          <p:nvPr/>
        </p:nvSpPr>
        <p:spPr>
          <a:xfrm>
            <a:off x="2033080" y="3492462"/>
            <a:ext cx="656145" cy="276999"/>
          </a:xfrm>
          <a:prstGeom prst="rect">
            <a:avLst/>
          </a:prstGeom>
          <a:noFill/>
        </p:spPr>
        <p:txBody>
          <a:bodyPr wrap="square" rtlCol="0">
            <a:spAutoFit/>
          </a:bodyPr>
          <a:lstStyle/>
          <a:p>
            <a:r>
              <a:rPr lang="en-US" sz="1200" dirty="0">
                <a:solidFill>
                  <a:schemeClr val="bg1"/>
                </a:solidFill>
              </a:rPr>
              <a:t>4nm</a:t>
            </a:r>
          </a:p>
        </p:txBody>
      </p:sp>
    </p:spTree>
    <p:extLst>
      <p:ext uri="{BB962C8B-B14F-4D97-AF65-F5344CB8AC3E}">
        <p14:creationId xmlns:p14="http://schemas.microsoft.com/office/powerpoint/2010/main" val="1915432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BF850AB-FAAA-BB69-7087-276A73213899}"/>
              </a:ext>
            </a:extLst>
          </p:cNvPr>
          <p:cNvSpPr txBox="1"/>
          <p:nvPr/>
        </p:nvSpPr>
        <p:spPr>
          <a:xfrm>
            <a:off x="1795464" y="630296"/>
            <a:ext cx="6096000" cy="1295868"/>
          </a:xfrm>
          <a:prstGeom prst="rect">
            <a:avLst/>
          </a:prstGeom>
          <a:noFill/>
        </p:spPr>
        <p:txBody>
          <a:bodyPr wrap="square">
            <a:spAutoFit/>
          </a:bodyPr>
          <a:lstStyle/>
          <a:p>
            <a:pPr algn="ctr">
              <a:lnSpc>
                <a:spcPct val="150000"/>
              </a:lnSpc>
            </a:pPr>
            <a:r>
              <a:rPr lang="en-US" b="0" i="0" dirty="0">
                <a:solidFill>
                  <a:srgbClr val="222222"/>
                </a:solidFill>
                <a:effectLst/>
                <a:latin typeface="iransans"/>
              </a:rPr>
              <a:t>Lithography : carving on stone</a:t>
            </a:r>
          </a:p>
          <a:p>
            <a:pPr algn="ctr">
              <a:lnSpc>
                <a:spcPct val="150000"/>
              </a:lnSpc>
            </a:pPr>
            <a:r>
              <a:rPr lang="en-US" dirty="0">
                <a:solidFill>
                  <a:srgbClr val="222222"/>
                </a:solidFill>
                <a:latin typeface="iransans"/>
              </a:rPr>
              <a:t>Photol</a:t>
            </a:r>
            <a:r>
              <a:rPr lang="en-US" dirty="0"/>
              <a:t>ithography (Optical Lithography) : Using Light to make patterns on the wafer</a:t>
            </a:r>
          </a:p>
        </p:txBody>
      </p:sp>
      <p:sp>
        <p:nvSpPr>
          <p:cNvPr id="9" name="TextBox 8">
            <a:extLst>
              <a:ext uri="{FF2B5EF4-FFF2-40B4-BE49-F238E27FC236}">
                <a16:creationId xmlns:a16="http://schemas.microsoft.com/office/drawing/2014/main" id="{FA60870E-0C66-1623-660E-4B71E8E5C223}"/>
              </a:ext>
            </a:extLst>
          </p:cNvPr>
          <p:cNvSpPr txBox="1"/>
          <p:nvPr/>
        </p:nvSpPr>
        <p:spPr>
          <a:xfrm>
            <a:off x="1714501" y="2009860"/>
            <a:ext cx="6096000" cy="923330"/>
          </a:xfrm>
          <a:prstGeom prst="rect">
            <a:avLst/>
          </a:prstGeom>
          <a:noFill/>
        </p:spPr>
        <p:txBody>
          <a:bodyPr wrap="square">
            <a:spAutoFit/>
          </a:bodyPr>
          <a:lstStyle/>
          <a:p>
            <a:pPr algn="ctr"/>
            <a:r>
              <a:rPr lang="en-US" dirty="0"/>
              <a:t>Deep Ultra Violet (DUV, 193nm)</a:t>
            </a:r>
          </a:p>
          <a:p>
            <a:pPr algn="ctr"/>
            <a:endParaRPr lang="en-US" dirty="0"/>
          </a:p>
          <a:p>
            <a:pPr algn="ctr"/>
            <a:r>
              <a:rPr lang="en-US" b="0" i="0" dirty="0">
                <a:solidFill>
                  <a:srgbClr val="222222"/>
                </a:solidFill>
                <a:effectLst/>
                <a:latin typeface="iransans"/>
              </a:rPr>
              <a:t>Extreme Ultra Violet (</a:t>
            </a:r>
            <a:r>
              <a:rPr lang="en-US" dirty="0"/>
              <a:t>EUV, </a:t>
            </a:r>
            <a:r>
              <a:rPr lang="en-US" b="0" i="0" dirty="0">
                <a:solidFill>
                  <a:srgbClr val="222222"/>
                </a:solidFill>
                <a:effectLst/>
                <a:latin typeface="iransans"/>
              </a:rPr>
              <a:t>13-14 nm)</a:t>
            </a:r>
            <a:endParaRPr lang="en-US" dirty="0"/>
          </a:p>
        </p:txBody>
      </p:sp>
      <p:sp>
        <p:nvSpPr>
          <p:cNvPr id="10" name="Arrow: Down 9">
            <a:extLst>
              <a:ext uri="{FF2B5EF4-FFF2-40B4-BE49-F238E27FC236}">
                <a16:creationId xmlns:a16="http://schemas.microsoft.com/office/drawing/2014/main" id="{3779381B-BE97-B051-F43D-0C67BE751E23}"/>
              </a:ext>
            </a:extLst>
          </p:cNvPr>
          <p:cNvSpPr/>
          <p:nvPr/>
        </p:nvSpPr>
        <p:spPr>
          <a:xfrm>
            <a:off x="4562476" y="2389742"/>
            <a:ext cx="228600" cy="200025"/>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3" name="TextBox 12">
            <a:extLst>
              <a:ext uri="{FF2B5EF4-FFF2-40B4-BE49-F238E27FC236}">
                <a16:creationId xmlns:a16="http://schemas.microsoft.com/office/drawing/2014/main" id="{CE72CB85-CB6E-3A55-F150-336E4F6547C0}"/>
              </a:ext>
            </a:extLst>
          </p:cNvPr>
          <p:cNvSpPr txBox="1"/>
          <p:nvPr/>
        </p:nvSpPr>
        <p:spPr>
          <a:xfrm>
            <a:off x="2128839" y="3016886"/>
            <a:ext cx="5429250" cy="923330"/>
          </a:xfrm>
          <a:prstGeom prst="rect">
            <a:avLst/>
          </a:prstGeom>
          <a:noFill/>
        </p:spPr>
        <p:txBody>
          <a:bodyPr wrap="square" rtlCol="0">
            <a:spAutoFit/>
          </a:bodyPr>
          <a:lstStyle/>
          <a:p>
            <a:pPr algn="ctr"/>
            <a:r>
              <a:rPr lang="en-US" dirty="0"/>
              <a:t>TSMC         6nm component (about 10 silicon atoms)</a:t>
            </a:r>
          </a:p>
          <a:p>
            <a:pPr algn="ctr"/>
            <a:r>
              <a:rPr lang="en-US" dirty="0"/>
              <a:t>silicon atom diameter        0.1nm </a:t>
            </a:r>
          </a:p>
          <a:p>
            <a:pPr algn="ctr"/>
            <a:r>
              <a:rPr lang="en-US" dirty="0"/>
              <a:t>Distance between atoms        0.5nm</a:t>
            </a:r>
          </a:p>
        </p:txBody>
      </p:sp>
      <p:cxnSp>
        <p:nvCxnSpPr>
          <p:cNvPr id="15" name="Straight Arrow Connector 14">
            <a:extLst>
              <a:ext uri="{FF2B5EF4-FFF2-40B4-BE49-F238E27FC236}">
                <a16:creationId xmlns:a16="http://schemas.microsoft.com/office/drawing/2014/main" id="{00527792-51A5-4A69-97E0-44DCC0D764DF}"/>
              </a:ext>
            </a:extLst>
          </p:cNvPr>
          <p:cNvCxnSpPr>
            <a:cxnSpLocks/>
          </p:cNvCxnSpPr>
          <p:nvPr/>
        </p:nvCxnSpPr>
        <p:spPr>
          <a:xfrm>
            <a:off x="3067050" y="3209925"/>
            <a:ext cx="2952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A622852-2684-2633-9954-0C9CB44A0B44}"/>
              </a:ext>
            </a:extLst>
          </p:cNvPr>
          <p:cNvCxnSpPr>
            <a:cxnSpLocks/>
          </p:cNvCxnSpPr>
          <p:nvPr/>
        </p:nvCxnSpPr>
        <p:spPr>
          <a:xfrm>
            <a:off x="5386387" y="3478551"/>
            <a:ext cx="2952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3D35D93-6D7A-2C86-FCA0-435B5CBAEC38}"/>
              </a:ext>
            </a:extLst>
          </p:cNvPr>
          <p:cNvCxnSpPr>
            <a:cxnSpLocks/>
          </p:cNvCxnSpPr>
          <p:nvPr/>
        </p:nvCxnSpPr>
        <p:spPr>
          <a:xfrm>
            <a:off x="5534024" y="3752850"/>
            <a:ext cx="2952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ECAF8855-ADB0-3B0A-01AC-2B4646E808E4}"/>
              </a:ext>
            </a:extLst>
          </p:cNvPr>
          <p:cNvPicPr>
            <a:picLocks noChangeAspect="1"/>
          </p:cNvPicPr>
          <p:nvPr/>
        </p:nvPicPr>
        <p:blipFill>
          <a:blip r:embed="rId3"/>
          <a:stretch>
            <a:fillRect/>
          </a:stretch>
        </p:blipFill>
        <p:spPr>
          <a:xfrm>
            <a:off x="8001001" y="771161"/>
            <a:ext cx="3527749" cy="4267564"/>
          </a:xfrm>
          <a:prstGeom prst="rect">
            <a:avLst/>
          </a:prstGeom>
        </p:spPr>
      </p:pic>
      <p:sp>
        <p:nvSpPr>
          <p:cNvPr id="21" name="TextBox 20">
            <a:extLst>
              <a:ext uri="{FF2B5EF4-FFF2-40B4-BE49-F238E27FC236}">
                <a16:creationId xmlns:a16="http://schemas.microsoft.com/office/drawing/2014/main" id="{0574CAB5-644C-6367-C2D7-067ACA943F9B}"/>
              </a:ext>
            </a:extLst>
          </p:cNvPr>
          <p:cNvSpPr txBox="1"/>
          <p:nvPr/>
        </p:nvSpPr>
        <p:spPr>
          <a:xfrm>
            <a:off x="1416844" y="4020295"/>
            <a:ext cx="6519864" cy="646331"/>
          </a:xfrm>
          <a:prstGeom prst="rect">
            <a:avLst/>
          </a:prstGeom>
          <a:noFill/>
        </p:spPr>
        <p:txBody>
          <a:bodyPr wrap="square" rtlCol="0">
            <a:spAutoFit/>
          </a:bodyPr>
          <a:lstStyle/>
          <a:p>
            <a:pPr algn="ctr"/>
            <a:r>
              <a:rPr lang="en-US" dirty="0"/>
              <a:t>EUV Photolithography - smaller wave length – more energy – probable device damage</a:t>
            </a:r>
          </a:p>
        </p:txBody>
      </p:sp>
    </p:spTree>
    <p:extLst>
      <p:ext uri="{BB962C8B-B14F-4D97-AF65-F5344CB8AC3E}">
        <p14:creationId xmlns:p14="http://schemas.microsoft.com/office/powerpoint/2010/main" val="17880212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5AD17B5-F145-3120-3238-AC3A175B4AAC}"/>
              </a:ext>
            </a:extLst>
          </p:cNvPr>
          <p:cNvPicPr>
            <a:picLocks noChangeAspect="1"/>
          </p:cNvPicPr>
          <p:nvPr/>
        </p:nvPicPr>
        <p:blipFill>
          <a:blip r:embed="rId3"/>
          <a:stretch>
            <a:fillRect/>
          </a:stretch>
        </p:blipFill>
        <p:spPr>
          <a:xfrm>
            <a:off x="740350" y="656351"/>
            <a:ext cx="3612576" cy="4204397"/>
          </a:xfrm>
          <a:prstGeom prst="rect">
            <a:avLst/>
          </a:prstGeom>
        </p:spPr>
      </p:pic>
      <p:pic>
        <p:nvPicPr>
          <p:cNvPr id="3" name="Picture 2">
            <a:extLst>
              <a:ext uri="{FF2B5EF4-FFF2-40B4-BE49-F238E27FC236}">
                <a16:creationId xmlns:a16="http://schemas.microsoft.com/office/drawing/2014/main" id="{36556C44-7CE0-D6A2-0EC1-9A6A60EF8FE3}"/>
              </a:ext>
            </a:extLst>
          </p:cNvPr>
          <p:cNvPicPr>
            <a:picLocks noChangeAspect="1"/>
          </p:cNvPicPr>
          <p:nvPr/>
        </p:nvPicPr>
        <p:blipFill>
          <a:blip r:embed="rId4"/>
          <a:srcRect b="24761"/>
          <a:stretch>
            <a:fillRect/>
          </a:stretch>
        </p:blipFill>
        <p:spPr>
          <a:xfrm>
            <a:off x="4751311" y="1311452"/>
            <a:ext cx="6783789" cy="3549296"/>
          </a:xfrm>
          <a:prstGeom prst="rect">
            <a:avLst/>
          </a:prstGeom>
        </p:spPr>
      </p:pic>
    </p:spTree>
    <p:extLst>
      <p:ext uri="{BB962C8B-B14F-4D97-AF65-F5344CB8AC3E}">
        <p14:creationId xmlns:p14="http://schemas.microsoft.com/office/powerpoint/2010/main" val="30321469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82A407-F855-4827-26A2-F475720424D7}"/>
              </a:ext>
            </a:extLst>
          </p:cNvPr>
          <p:cNvSpPr txBox="1"/>
          <p:nvPr/>
        </p:nvSpPr>
        <p:spPr>
          <a:xfrm>
            <a:off x="585332" y="595497"/>
            <a:ext cx="5483699" cy="4832092"/>
          </a:xfrm>
          <a:prstGeom prst="rect">
            <a:avLst/>
          </a:prstGeom>
          <a:noFill/>
        </p:spPr>
        <p:txBody>
          <a:bodyPr wrap="square" rtlCol="0">
            <a:spAutoFit/>
          </a:bodyPr>
          <a:lstStyle/>
          <a:p>
            <a:r>
              <a:rPr lang="en-US" sz="2000" b="1" dirty="0"/>
              <a:t>Challenges</a:t>
            </a:r>
            <a:endParaRPr lang="en-US" dirty="0"/>
          </a:p>
          <a:p>
            <a:pPr marL="342900" indent="-342900">
              <a:lnSpc>
                <a:spcPct val="150000"/>
              </a:lnSpc>
              <a:buAutoNum type="arabicParenR"/>
            </a:pPr>
            <a:r>
              <a:rPr lang="en-US" dirty="0"/>
              <a:t>Dopants distribution randomness</a:t>
            </a:r>
          </a:p>
          <a:p>
            <a:pPr marL="342900" indent="-342900">
              <a:lnSpc>
                <a:spcPct val="150000"/>
              </a:lnSpc>
              <a:buAutoNum type="arabicParenR"/>
            </a:pPr>
            <a:r>
              <a:rPr lang="en-US" dirty="0"/>
              <a:t>Cu diffusion in SiO</a:t>
            </a:r>
            <a:r>
              <a:rPr lang="en-US" sz="1400" dirty="0"/>
              <a:t>2 </a:t>
            </a:r>
          </a:p>
          <a:p>
            <a:pPr marL="342900" indent="-342900">
              <a:lnSpc>
                <a:spcPct val="150000"/>
              </a:lnSpc>
              <a:buAutoNum type="arabicParenR"/>
            </a:pPr>
            <a:r>
              <a:rPr lang="en-US" dirty="0"/>
              <a:t>Quantum effects (Tunneling) _ current leakage , more energy consumption</a:t>
            </a:r>
          </a:p>
          <a:p>
            <a:pPr marL="342900" indent="-342900">
              <a:lnSpc>
                <a:spcPct val="150000"/>
              </a:lnSpc>
              <a:buAutoNum type="arabicParenR"/>
            </a:pPr>
            <a:r>
              <a:rPr lang="en-US" dirty="0"/>
              <a:t>Total Heat increases</a:t>
            </a:r>
            <a:endParaRPr lang="fa-IR" dirty="0"/>
          </a:p>
          <a:p>
            <a:pPr marL="342900" indent="-342900">
              <a:lnSpc>
                <a:spcPct val="150000"/>
              </a:lnSpc>
              <a:buAutoNum type="arabicParenR"/>
            </a:pPr>
            <a:r>
              <a:rPr lang="en-US" dirty="0"/>
              <a:t>Poor electrostatic control </a:t>
            </a:r>
          </a:p>
          <a:p>
            <a:pPr>
              <a:lnSpc>
                <a:spcPct val="150000"/>
              </a:lnSpc>
            </a:pPr>
            <a:r>
              <a:rPr lang="en-US" dirty="0"/>
              <a:t>(Short-Channel Effects)_Threshold Voltage decreases</a:t>
            </a:r>
          </a:p>
          <a:p>
            <a:pPr>
              <a:lnSpc>
                <a:spcPct val="150000"/>
              </a:lnSpc>
            </a:pPr>
            <a:r>
              <a:rPr lang="en-US" dirty="0"/>
              <a:t>         use High-k dielectrics, 3-D Transistors , Quantum Computers</a:t>
            </a:r>
          </a:p>
          <a:p>
            <a:pPr>
              <a:lnSpc>
                <a:spcPct val="150000"/>
              </a:lnSpc>
            </a:pPr>
            <a:endParaRPr lang="en-US" dirty="0"/>
          </a:p>
          <a:p>
            <a:pPr marL="342900" indent="-342900">
              <a:buAutoNum type="arabicParenR"/>
            </a:pPr>
            <a:endParaRPr lang="en-US" dirty="0"/>
          </a:p>
        </p:txBody>
      </p:sp>
      <p:pic>
        <p:nvPicPr>
          <p:cNvPr id="3" name="Picture 2">
            <a:extLst>
              <a:ext uri="{FF2B5EF4-FFF2-40B4-BE49-F238E27FC236}">
                <a16:creationId xmlns:a16="http://schemas.microsoft.com/office/drawing/2014/main" id="{45FAA613-7CAD-1473-D2E9-5C85F2E69655}"/>
              </a:ext>
            </a:extLst>
          </p:cNvPr>
          <p:cNvPicPr>
            <a:picLocks noChangeAspect="1"/>
          </p:cNvPicPr>
          <p:nvPr/>
        </p:nvPicPr>
        <p:blipFill>
          <a:blip r:embed="rId3"/>
          <a:stretch>
            <a:fillRect/>
          </a:stretch>
        </p:blipFill>
        <p:spPr>
          <a:xfrm>
            <a:off x="9566810" y="1128897"/>
            <a:ext cx="2039858" cy="1487397"/>
          </a:xfrm>
          <a:prstGeom prst="rect">
            <a:avLst/>
          </a:prstGeom>
        </p:spPr>
      </p:pic>
      <p:pic>
        <p:nvPicPr>
          <p:cNvPr id="6" name="Picture 5">
            <a:extLst>
              <a:ext uri="{FF2B5EF4-FFF2-40B4-BE49-F238E27FC236}">
                <a16:creationId xmlns:a16="http://schemas.microsoft.com/office/drawing/2014/main" id="{F3D0319F-4D5A-34AA-080E-0A128CCA9D37}"/>
              </a:ext>
            </a:extLst>
          </p:cNvPr>
          <p:cNvPicPr>
            <a:picLocks noChangeAspect="1"/>
          </p:cNvPicPr>
          <p:nvPr/>
        </p:nvPicPr>
        <p:blipFill>
          <a:blip r:embed="rId4"/>
          <a:stretch>
            <a:fillRect/>
          </a:stretch>
        </p:blipFill>
        <p:spPr>
          <a:xfrm>
            <a:off x="6069031" y="1033647"/>
            <a:ext cx="3024554" cy="1438344"/>
          </a:xfrm>
          <a:prstGeom prst="rect">
            <a:avLst/>
          </a:prstGeom>
        </p:spPr>
      </p:pic>
      <p:cxnSp>
        <p:nvCxnSpPr>
          <p:cNvPr id="8" name="Straight Arrow Connector 7">
            <a:extLst>
              <a:ext uri="{FF2B5EF4-FFF2-40B4-BE49-F238E27FC236}">
                <a16:creationId xmlns:a16="http://schemas.microsoft.com/office/drawing/2014/main" id="{53E5F820-A364-5312-2FC7-022725CF707D}"/>
              </a:ext>
            </a:extLst>
          </p:cNvPr>
          <p:cNvCxnSpPr/>
          <p:nvPr/>
        </p:nvCxnSpPr>
        <p:spPr>
          <a:xfrm>
            <a:off x="638175" y="4124325"/>
            <a:ext cx="3810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pic>
        <p:nvPicPr>
          <p:cNvPr id="9" name="Picture 8">
            <a:extLst>
              <a:ext uri="{FF2B5EF4-FFF2-40B4-BE49-F238E27FC236}">
                <a16:creationId xmlns:a16="http://schemas.microsoft.com/office/drawing/2014/main" id="{71B02576-E81C-285C-FC12-B58672749A32}"/>
              </a:ext>
            </a:extLst>
          </p:cNvPr>
          <p:cNvPicPr>
            <a:picLocks noChangeAspect="1"/>
          </p:cNvPicPr>
          <p:nvPr/>
        </p:nvPicPr>
        <p:blipFill>
          <a:blip r:embed="rId5"/>
          <a:stretch>
            <a:fillRect/>
          </a:stretch>
        </p:blipFill>
        <p:spPr>
          <a:xfrm>
            <a:off x="6421236" y="2958014"/>
            <a:ext cx="2404869" cy="1608971"/>
          </a:xfrm>
          <a:prstGeom prst="rect">
            <a:avLst/>
          </a:prstGeom>
        </p:spPr>
      </p:pic>
      <p:pic>
        <p:nvPicPr>
          <p:cNvPr id="11" name="Picture 10">
            <a:extLst>
              <a:ext uri="{FF2B5EF4-FFF2-40B4-BE49-F238E27FC236}">
                <a16:creationId xmlns:a16="http://schemas.microsoft.com/office/drawing/2014/main" id="{62AFF94C-9FCD-B7B9-385C-3C650A984940}"/>
              </a:ext>
            </a:extLst>
          </p:cNvPr>
          <p:cNvPicPr>
            <a:picLocks noChangeAspect="1"/>
          </p:cNvPicPr>
          <p:nvPr/>
        </p:nvPicPr>
        <p:blipFill>
          <a:blip r:embed="rId6"/>
          <a:stretch>
            <a:fillRect/>
          </a:stretch>
        </p:blipFill>
        <p:spPr>
          <a:xfrm>
            <a:off x="9293554" y="2958014"/>
            <a:ext cx="2670282" cy="1516071"/>
          </a:xfrm>
          <a:prstGeom prst="rect">
            <a:avLst/>
          </a:prstGeom>
        </p:spPr>
      </p:pic>
    </p:spTree>
    <p:extLst>
      <p:ext uri="{BB962C8B-B14F-4D97-AF65-F5344CB8AC3E}">
        <p14:creationId xmlns:p14="http://schemas.microsoft.com/office/powerpoint/2010/main" val="18909694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B46F9D-0671-719A-7D63-735858EF8119}"/>
              </a:ext>
            </a:extLst>
          </p:cNvPr>
          <p:cNvSpPr txBox="1"/>
          <p:nvPr/>
        </p:nvSpPr>
        <p:spPr>
          <a:xfrm>
            <a:off x="1452562" y="2420557"/>
            <a:ext cx="9286875" cy="1237262"/>
          </a:xfrm>
          <a:prstGeom prst="rect">
            <a:avLst/>
          </a:prstGeom>
          <a:noFill/>
        </p:spPr>
        <p:txBody>
          <a:bodyPr wrap="square" rtlCol="0">
            <a:spAutoFit/>
          </a:bodyPr>
          <a:lstStyle/>
          <a:p>
            <a:pPr algn="ctr">
              <a:lnSpc>
                <a:spcPct val="200000"/>
              </a:lnSpc>
            </a:pPr>
            <a:r>
              <a:rPr lang="en-US" sz="2000" dirty="0"/>
              <a:t>Most Important Advantages of MOSFET:</a:t>
            </a:r>
          </a:p>
          <a:p>
            <a:pPr algn="ctr">
              <a:lnSpc>
                <a:spcPct val="200000"/>
              </a:lnSpc>
            </a:pPr>
            <a:r>
              <a:rPr lang="en-US" sz="2000" dirty="0"/>
              <a:t>Manufacturing Yield (well-behaved oxide layer)          Speed          Power Consumption</a:t>
            </a:r>
          </a:p>
        </p:txBody>
      </p:sp>
    </p:spTree>
    <p:extLst>
      <p:ext uri="{BB962C8B-B14F-4D97-AF65-F5344CB8AC3E}">
        <p14:creationId xmlns:p14="http://schemas.microsoft.com/office/powerpoint/2010/main" val="39365488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1000"/>
            <a:lum/>
          </a:blip>
          <a:srcRect/>
          <a:stretch>
            <a:fillRect t="-9000" b="-9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11B918-C935-3665-408C-F9F09256AFC0}"/>
              </a:ext>
            </a:extLst>
          </p:cNvPr>
          <p:cNvSpPr txBox="1"/>
          <p:nvPr/>
        </p:nvSpPr>
        <p:spPr>
          <a:xfrm>
            <a:off x="3762375" y="2600325"/>
            <a:ext cx="5629275" cy="707886"/>
          </a:xfrm>
          <a:prstGeom prst="rect">
            <a:avLst/>
          </a:prstGeom>
          <a:noFill/>
        </p:spPr>
        <p:txBody>
          <a:bodyPr wrap="square" rtlCol="0">
            <a:spAutoFit/>
          </a:bodyPr>
          <a:lstStyle/>
          <a:p>
            <a:r>
              <a:rPr lang="en-US" sz="4000" b="1" dirty="0"/>
              <a:t>Thanks for your attention</a:t>
            </a:r>
          </a:p>
        </p:txBody>
      </p:sp>
    </p:spTree>
    <p:extLst>
      <p:ext uri="{BB962C8B-B14F-4D97-AF65-F5344CB8AC3E}">
        <p14:creationId xmlns:p14="http://schemas.microsoft.com/office/powerpoint/2010/main" val="8532672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3350</TotalTime>
  <Words>1413</Words>
  <Application>Microsoft Office PowerPoint</Application>
  <PresentationFormat>Widescreen</PresentationFormat>
  <Paragraphs>134</Paragraphs>
  <Slides>31</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31</vt:i4>
      </vt:variant>
    </vt:vector>
  </HeadingPairs>
  <TitlesOfParts>
    <vt:vector size="43" baseType="lpstr">
      <vt:lpstr>Adobe Arabic</vt:lpstr>
      <vt:lpstr>Arial</vt:lpstr>
      <vt:lpstr>Arial Narrow</vt:lpstr>
      <vt:lpstr>Calibri</vt:lpstr>
      <vt:lpstr>Calibri Light</vt:lpstr>
      <vt:lpstr>irans</vt:lpstr>
      <vt:lpstr>iransans</vt:lpstr>
      <vt:lpstr>Roboto</vt:lpstr>
      <vt:lpstr>system-ui</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 Taheri</dc:creator>
  <cp:lastModifiedBy>A Taheri</cp:lastModifiedBy>
  <cp:revision>17</cp:revision>
  <dcterms:created xsi:type="dcterms:W3CDTF">2026-01-07T06:46:56Z</dcterms:created>
  <dcterms:modified xsi:type="dcterms:W3CDTF">2026-01-15T14:40:32Z</dcterms:modified>
</cp:coreProperties>
</file>